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2FFF"/>
    <a:srgbClr val="2100EA"/>
    <a:srgbClr val="4425FF"/>
    <a:srgbClr val="7B65FF"/>
    <a:srgbClr val="A162FE"/>
    <a:srgbClr val="2302AE"/>
    <a:srgbClr val="130086"/>
    <a:srgbClr val="745DFF"/>
    <a:srgbClr val="2F0EFF"/>
    <a:srgbClr val="B7A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5" autoAdjust="0"/>
    <p:restoredTop sz="94434" autoAdjust="0"/>
  </p:normalViewPr>
  <p:slideViewPr>
    <p:cSldViewPr snapToGrid="0">
      <p:cViewPr varScale="1">
        <p:scale>
          <a:sx n="81" d="100"/>
          <a:sy n="81" d="100"/>
        </p:scale>
        <p:origin x="27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A2A2E7-F5BA-4B5A-8C48-4E76ABF42F78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</dgm:pt>
    <dgm:pt modelId="{F12779DB-8C4C-4622-9864-0BBAD88629A7}">
      <dgm:prSet phldrT="[Text]" custT="1"/>
      <dgm:spPr>
        <a:noFill/>
        <a:ln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2000">
                <a:srgbClr val="2302AE"/>
              </a:gs>
            </a:gsLst>
            <a:lin ang="2700000" scaled="1"/>
            <a:tileRect/>
          </a:gradFill>
        </a:ln>
      </dgm:spPr>
      <dgm:t>
        <a:bodyPr/>
        <a:lstStyle/>
        <a:p>
          <a:r>
            <a:rPr lang="en-IN" sz="1600" b="1" i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rPr>
            <a:t>Agentic orchestration</a:t>
          </a:r>
        </a:p>
        <a:p>
          <a:endParaRPr lang="en-US" sz="1600" b="1" i="0" cap="none" spc="0" dirty="0" smtClean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+mj-lt"/>
          </a:endParaRPr>
        </a:p>
        <a:p>
          <a:r>
            <a:rPr lang="en-US" sz="1400" b="0" i="0" dirty="0" smtClean="0">
              <a:solidFill>
                <a:schemeClr val="tx1"/>
              </a:solidFill>
              <a:latin typeface="+mj-lt"/>
            </a:rPr>
            <a:t>A conversation manager coordinates specialized agents; workflows are not a single fixed chain</a:t>
          </a:r>
          <a:endParaRPr lang="en-IN" sz="14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+mj-lt"/>
          </a:endParaRPr>
        </a:p>
      </dgm:t>
    </dgm:pt>
    <dgm:pt modelId="{F95B1026-5754-4509-B32B-8B2A17BAE8CA}" type="parTrans" cxnId="{C75683C0-0100-432D-B28D-F3BBE7D6A606}">
      <dgm:prSet/>
      <dgm:spPr/>
      <dgm:t>
        <a:bodyPr/>
        <a:lstStyle/>
        <a:p>
          <a:endParaRPr lang="en-IN"/>
        </a:p>
      </dgm:t>
    </dgm:pt>
    <dgm:pt modelId="{B981BFBF-8F8E-4E56-B410-9C11A9FA3740}" type="sibTrans" cxnId="{C75683C0-0100-432D-B28D-F3BBE7D6A606}">
      <dgm:prSet/>
      <dgm:spPr/>
      <dgm:t>
        <a:bodyPr/>
        <a:lstStyle/>
        <a:p>
          <a:endParaRPr lang="en-IN"/>
        </a:p>
      </dgm:t>
    </dgm:pt>
    <dgm:pt modelId="{ED6ED3DA-1280-4AD5-BE04-FFF9A0890E83}">
      <dgm:prSet phldrT="[Text]" custT="1"/>
      <dgm:spPr>
        <a:noFill/>
        <a:ln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2000">
                <a:srgbClr val="2302AE"/>
              </a:gs>
            </a:gsLst>
            <a:lin ang="2700000" scaled="1"/>
            <a:tileRect/>
          </a:gradFill>
        </a:ln>
      </dgm:spPr>
      <dgm:t>
        <a:bodyPr/>
        <a:lstStyle/>
        <a:p>
          <a:r>
            <a:rPr lang="en-IN" sz="1600" b="1" i="0" dirty="0" smtClean="0">
              <a:latin typeface="+mj-lt"/>
            </a:rPr>
            <a:t>LangGraph </a:t>
          </a:r>
          <a:r>
            <a:rPr lang="en-IN" sz="1600" b="1" i="0" dirty="0" smtClean="0">
              <a:latin typeface="+mj-lt"/>
            </a:rPr>
            <a:t>Control </a:t>
          </a:r>
          <a:r>
            <a:rPr lang="en-IN" sz="1600" b="1" i="0" dirty="0" smtClean="0">
              <a:latin typeface="+mj-lt"/>
            </a:rPr>
            <a:t>flow</a:t>
          </a:r>
        </a:p>
        <a:p>
          <a:endParaRPr lang="en-US" sz="1600" b="1" i="0" dirty="0" smtClean="0">
            <a:latin typeface="+mj-lt"/>
          </a:endParaRPr>
        </a:p>
        <a:p>
          <a:r>
            <a:rPr lang="en-US" sz="1400" b="0" i="0" dirty="0" smtClean="0">
              <a:latin typeface="+mj-lt"/>
            </a:rPr>
            <a:t>Nodes (agents/steps), edges (transitions), and conditions (which path to take) are first-class; supports loops for retry and user confirmation</a:t>
          </a:r>
          <a:endParaRPr lang="en-IN" sz="1400" b="0" dirty="0">
            <a:latin typeface="+mj-lt"/>
          </a:endParaRPr>
        </a:p>
      </dgm:t>
    </dgm:pt>
    <dgm:pt modelId="{A1AEE6DD-7EAC-44F2-ADA2-6B2961441019}" type="parTrans" cxnId="{AB7F3CB4-3E3D-459F-B35A-23087A45600E}">
      <dgm:prSet/>
      <dgm:spPr/>
      <dgm:t>
        <a:bodyPr/>
        <a:lstStyle/>
        <a:p>
          <a:endParaRPr lang="en-IN"/>
        </a:p>
      </dgm:t>
    </dgm:pt>
    <dgm:pt modelId="{030FDFF3-E541-4F0D-9E55-9D7395EE2D01}" type="sibTrans" cxnId="{AB7F3CB4-3E3D-459F-B35A-23087A45600E}">
      <dgm:prSet/>
      <dgm:spPr/>
      <dgm:t>
        <a:bodyPr/>
        <a:lstStyle/>
        <a:p>
          <a:endParaRPr lang="en-IN"/>
        </a:p>
      </dgm:t>
    </dgm:pt>
    <dgm:pt modelId="{F7CA22C0-695E-444A-A8A0-9DEF6725AE6E}">
      <dgm:prSet phldrT="[Text]" custT="1"/>
      <dgm:spPr>
        <a:noFill/>
        <a:ln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2000">
                <a:srgbClr val="2302AE"/>
              </a:gs>
            </a:gsLst>
            <a:lin ang="2700000" scaled="1"/>
            <a:tileRect/>
          </a:gradFill>
        </a:ln>
      </dgm:spPr>
      <dgm:t>
        <a:bodyPr/>
        <a:lstStyle/>
        <a:p>
          <a:r>
            <a:rPr lang="en-IN" sz="1600" b="1" i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rPr>
            <a:t>Multimodal RAG</a:t>
          </a:r>
        </a:p>
        <a:p>
          <a:endParaRPr lang="en-US" sz="1600" b="0" i="0" cap="none" spc="0" dirty="0" smtClean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+mj-lt"/>
          </a:endParaRPr>
        </a:p>
        <a:p>
          <a:r>
            <a:rPr lang="en-US" sz="1400" b="0" i="0" dirty="0" err="1" smtClean="0">
              <a:solidFill>
                <a:schemeClr val="tx1"/>
              </a:solidFill>
              <a:latin typeface="+mj-lt"/>
            </a:rPr>
            <a:t>FalkorDB</a:t>
          </a:r>
          <a:r>
            <a:rPr lang="en-US" sz="1400" b="0" i="0" dirty="0" smtClean="0">
              <a:solidFill>
                <a:schemeClr val="tx1"/>
              </a:solidFill>
              <a:latin typeface="+mj-lt"/>
            </a:rPr>
            <a:t> stores text, image, OCR, and multilingual vectors for retrieval-augmented grounding.</a:t>
          </a:r>
          <a:endParaRPr lang="en-IN" sz="14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+mj-lt"/>
          </a:endParaRPr>
        </a:p>
      </dgm:t>
    </dgm:pt>
    <dgm:pt modelId="{769FBD52-B072-45D0-B719-6CD84C141D53}" type="parTrans" cxnId="{832FD0E0-7E0A-46F9-8ACD-569CE2C3B6B2}">
      <dgm:prSet/>
      <dgm:spPr/>
      <dgm:t>
        <a:bodyPr/>
        <a:lstStyle/>
        <a:p>
          <a:endParaRPr lang="en-IN"/>
        </a:p>
      </dgm:t>
    </dgm:pt>
    <dgm:pt modelId="{7631FC74-FE40-44DC-ABF9-1E78A7788F46}" type="sibTrans" cxnId="{832FD0E0-7E0A-46F9-8ACD-569CE2C3B6B2}">
      <dgm:prSet/>
      <dgm:spPr/>
      <dgm:t>
        <a:bodyPr/>
        <a:lstStyle/>
        <a:p>
          <a:endParaRPr lang="en-IN"/>
        </a:p>
      </dgm:t>
    </dgm:pt>
    <dgm:pt modelId="{CC4B62BA-1EDE-4FC1-B471-3E5317E6CDDA}">
      <dgm:prSet phldrT="[Text]" custT="1"/>
      <dgm:spPr>
        <a:noFill/>
        <a:ln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2000">
                <a:srgbClr val="2302AE"/>
              </a:gs>
            </a:gsLst>
            <a:lin ang="2700000" scaled="1"/>
            <a:tileRect/>
          </a:gradFill>
        </a:ln>
      </dgm:spPr>
      <dgm:t>
        <a:bodyPr/>
        <a:lstStyle/>
        <a:p>
          <a:r>
            <a:rPr lang="en-IN" sz="1600" b="1" i="0" dirty="0" smtClean="0">
              <a:latin typeface="+mj-lt"/>
            </a:rPr>
            <a:t>Confidence-aware automation</a:t>
          </a:r>
        </a:p>
        <a:p>
          <a:endParaRPr lang="en-US" sz="1600" b="1" i="0" dirty="0" smtClean="0">
            <a:latin typeface="+mj-lt"/>
          </a:endParaRPr>
        </a:p>
        <a:p>
          <a:r>
            <a:rPr lang="en-US" sz="1400" b="0" i="0" dirty="0" smtClean="0">
              <a:latin typeface="+mj-lt"/>
            </a:rPr>
            <a:t>High / medium / low confidence gates drive billing, user confirmation, or fallback—not blind automation.</a:t>
          </a:r>
          <a:endParaRPr lang="en-IN" sz="1400" b="0" dirty="0">
            <a:latin typeface="+mj-lt"/>
          </a:endParaRPr>
        </a:p>
      </dgm:t>
    </dgm:pt>
    <dgm:pt modelId="{197064E5-42DB-4A91-8D3C-DBE42572AC22}" type="parTrans" cxnId="{E3FA6B06-1B67-4DCF-9E8B-DCE270CE4CD5}">
      <dgm:prSet/>
      <dgm:spPr/>
      <dgm:t>
        <a:bodyPr/>
        <a:lstStyle/>
        <a:p>
          <a:endParaRPr lang="en-IN"/>
        </a:p>
      </dgm:t>
    </dgm:pt>
    <dgm:pt modelId="{526ABB39-C36E-4F39-90A1-F07410056798}" type="sibTrans" cxnId="{E3FA6B06-1B67-4DCF-9E8B-DCE270CE4CD5}">
      <dgm:prSet/>
      <dgm:spPr/>
      <dgm:t>
        <a:bodyPr/>
        <a:lstStyle/>
        <a:p>
          <a:endParaRPr lang="en-IN"/>
        </a:p>
      </dgm:t>
    </dgm:pt>
    <dgm:pt modelId="{118D96A4-79C2-4B0C-89BD-4FA7AFF705CA}">
      <dgm:prSet phldrT="[Text]" custT="1"/>
      <dgm:spPr>
        <a:noFill/>
        <a:ln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2000">
                <a:srgbClr val="2302AE"/>
              </a:gs>
            </a:gsLst>
            <a:lin ang="2700000" scaled="1"/>
            <a:tileRect/>
          </a:gradFill>
        </a:ln>
      </dgm:spPr>
      <dgm:t>
        <a:bodyPr/>
        <a:lstStyle/>
        <a:p>
          <a:r>
            <a:rPr lang="en-IN" sz="1600" b="1" i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rPr>
            <a:t>Guardrails</a:t>
          </a:r>
        </a:p>
        <a:p>
          <a:endParaRPr lang="en-US" sz="1600" b="0" i="0" cap="none" spc="0" dirty="0" smtClean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+mj-lt"/>
          </a:endParaRPr>
        </a:p>
        <a:p>
          <a:r>
            <a:rPr lang="en-US" sz="1400" b="0" i="0" dirty="0" smtClean="0">
              <a:solidFill>
                <a:schemeClr val="tx1"/>
              </a:solidFill>
              <a:latin typeface="+mj-lt"/>
            </a:rPr>
            <a:t>Input validation, policy constraints, and thresholds before irreversible actions (e.g. billing).</a:t>
          </a:r>
          <a:endParaRPr lang="en-IN" sz="14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+mj-lt"/>
          </a:endParaRPr>
        </a:p>
      </dgm:t>
    </dgm:pt>
    <dgm:pt modelId="{60D0F228-51E6-479E-94A9-FF31E8CA3034}" type="parTrans" cxnId="{147B0EB2-FDDE-471A-99DB-3CA6A588F30E}">
      <dgm:prSet/>
      <dgm:spPr/>
      <dgm:t>
        <a:bodyPr/>
        <a:lstStyle/>
        <a:p>
          <a:endParaRPr lang="en-IN"/>
        </a:p>
      </dgm:t>
    </dgm:pt>
    <dgm:pt modelId="{D7B975B4-D8F9-43FB-B4A3-A77AB617E276}" type="sibTrans" cxnId="{147B0EB2-FDDE-471A-99DB-3CA6A588F30E}">
      <dgm:prSet/>
      <dgm:spPr/>
      <dgm:t>
        <a:bodyPr/>
        <a:lstStyle/>
        <a:p>
          <a:endParaRPr lang="en-IN"/>
        </a:p>
      </dgm:t>
    </dgm:pt>
    <dgm:pt modelId="{410499F7-D158-427E-B8D2-2E312B247580}">
      <dgm:prSet phldrT="[Text]" custT="1"/>
      <dgm:spPr>
        <a:noFill/>
        <a:ln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2000">
                <a:srgbClr val="2302AE"/>
              </a:gs>
            </a:gsLst>
            <a:lin ang="2700000" scaled="1"/>
            <a:tileRect/>
          </a:gradFill>
        </a:ln>
      </dgm:spPr>
      <dgm:t>
        <a:bodyPr/>
        <a:lstStyle/>
        <a:p>
          <a:r>
            <a:rPr lang="en-IN" sz="1600" b="1" i="0" dirty="0" smtClean="0">
              <a:latin typeface="+mj-lt"/>
            </a:rPr>
            <a:t>Open-source stack</a:t>
          </a:r>
        </a:p>
        <a:p>
          <a:endParaRPr lang="en-IN" sz="1600" b="1" i="0" dirty="0" smtClean="0">
            <a:latin typeface="+mj-lt"/>
          </a:endParaRPr>
        </a:p>
        <a:p>
          <a:r>
            <a:rPr lang="en-US" sz="1400" b="0" i="0" dirty="0" smtClean="0">
              <a:solidFill>
                <a:schemeClr val="bg1"/>
              </a:solidFill>
              <a:latin typeface="+mj-lt"/>
            </a:rPr>
            <a:t>Python, </a:t>
          </a:r>
          <a:r>
            <a:rPr lang="en-US" sz="1400" b="0" i="0" dirty="0" err="1" smtClean="0">
              <a:solidFill>
                <a:schemeClr val="bg1"/>
              </a:solidFill>
              <a:latin typeface="+mj-lt"/>
            </a:rPr>
            <a:t>Streamlit</a:t>
          </a:r>
          <a:r>
            <a:rPr lang="en-US" sz="1400" b="0" i="0" dirty="0" smtClean="0">
              <a:solidFill>
                <a:schemeClr val="bg1"/>
              </a:solidFill>
              <a:latin typeface="+mj-lt"/>
            </a:rPr>
            <a:t>, LangGraph, open LLMs and embedding models, enabling reproducibility and cost control.</a:t>
          </a:r>
          <a:endParaRPr lang="en-IN" sz="1400" b="0" dirty="0">
            <a:solidFill>
              <a:schemeClr val="bg1"/>
            </a:solidFill>
            <a:latin typeface="+mj-lt"/>
          </a:endParaRPr>
        </a:p>
      </dgm:t>
    </dgm:pt>
    <dgm:pt modelId="{11E1A025-3618-4216-A26C-B23AC924E49B}" type="parTrans" cxnId="{68FFCEA1-0489-4E86-B66C-D5164B4CED14}">
      <dgm:prSet/>
      <dgm:spPr/>
      <dgm:t>
        <a:bodyPr/>
        <a:lstStyle/>
        <a:p>
          <a:endParaRPr lang="en-IN"/>
        </a:p>
      </dgm:t>
    </dgm:pt>
    <dgm:pt modelId="{D071A09B-C3D2-4F5F-A38E-813FC3D6ECB6}" type="sibTrans" cxnId="{68FFCEA1-0489-4E86-B66C-D5164B4CED14}">
      <dgm:prSet/>
      <dgm:spPr/>
      <dgm:t>
        <a:bodyPr/>
        <a:lstStyle/>
        <a:p>
          <a:endParaRPr lang="en-IN"/>
        </a:p>
      </dgm:t>
    </dgm:pt>
    <dgm:pt modelId="{957DB44D-B04B-4F19-B413-CB0EAAC27611}" type="pres">
      <dgm:prSet presAssocID="{D5A2A2E7-F5BA-4B5A-8C48-4E76ABF42F7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0CC9DA4-CFCE-4188-801B-55661927DDC6}" type="pres">
      <dgm:prSet presAssocID="{F12779DB-8C4C-4622-9864-0BBAD88629A7}" presName="vertOne" presStyleCnt="0"/>
      <dgm:spPr/>
    </dgm:pt>
    <dgm:pt modelId="{A8338CAE-5863-4503-9231-5E062159E815}" type="pres">
      <dgm:prSet presAssocID="{F12779DB-8C4C-4622-9864-0BBAD88629A7}" presName="txOne" presStyleLbl="node0" presStyleIdx="0" presStyleCnt="6" custScaleX="105297" custLinFactX="-4822" custLinFactNeighborX="-100000" custLinFactNeighborY="173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D15FCFA-99C3-462A-A381-D534F3575B3E}" type="pres">
      <dgm:prSet presAssocID="{F12779DB-8C4C-4622-9864-0BBAD88629A7}" presName="horzOne" presStyleCnt="0"/>
      <dgm:spPr/>
    </dgm:pt>
    <dgm:pt modelId="{1AEFF390-15FE-431D-A382-71D7E93A1949}" type="pres">
      <dgm:prSet presAssocID="{B981BFBF-8F8E-4E56-B410-9C11A9FA3740}" presName="sibSpaceOne" presStyleCnt="0"/>
      <dgm:spPr/>
    </dgm:pt>
    <dgm:pt modelId="{1A5503A8-D087-4A32-830B-B323BD98CF1A}" type="pres">
      <dgm:prSet presAssocID="{ED6ED3DA-1280-4AD5-BE04-FFF9A0890E83}" presName="vertOne" presStyleCnt="0"/>
      <dgm:spPr/>
    </dgm:pt>
    <dgm:pt modelId="{785199EB-A019-42EA-AED3-5370F17D6E6B}" type="pres">
      <dgm:prSet presAssocID="{ED6ED3DA-1280-4AD5-BE04-FFF9A0890E83}" presName="txOne" presStyleLbl="node0" presStyleIdx="1" presStyleCnt="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015686E1-CF53-4D13-9481-A20313D0FEAF}" type="pres">
      <dgm:prSet presAssocID="{ED6ED3DA-1280-4AD5-BE04-FFF9A0890E83}" presName="horzOne" presStyleCnt="0"/>
      <dgm:spPr/>
    </dgm:pt>
    <dgm:pt modelId="{BB683615-F577-42D8-BE3A-C2B35CC452EE}" type="pres">
      <dgm:prSet presAssocID="{030FDFF3-E541-4F0D-9E55-9D7395EE2D01}" presName="sibSpaceOne" presStyleCnt="0"/>
      <dgm:spPr/>
    </dgm:pt>
    <dgm:pt modelId="{9C63A49B-26F4-4647-89B5-0025D73F00C7}" type="pres">
      <dgm:prSet presAssocID="{F7CA22C0-695E-444A-A8A0-9DEF6725AE6E}" presName="vertOne" presStyleCnt="0"/>
      <dgm:spPr/>
    </dgm:pt>
    <dgm:pt modelId="{7A52CE41-1C76-4DDB-9B6A-F151AF807A19}" type="pres">
      <dgm:prSet presAssocID="{F7CA22C0-695E-444A-A8A0-9DEF6725AE6E}" presName="txOne" presStyleLbl="node0" presStyleIdx="2" presStyleCnt="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D68D310-61F3-48C2-B96C-145B61C8C25D}" type="pres">
      <dgm:prSet presAssocID="{F7CA22C0-695E-444A-A8A0-9DEF6725AE6E}" presName="horzOne" presStyleCnt="0"/>
      <dgm:spPr/>
    </dgm:pt>
    <dgm:pt modelId="{C3B14F77-4090-412C-9930-37B15BCE8A71}" type="pres">
      <dgm:prSet presAssocID="{7631FC74-FE40-44DC-ABF9-1E78A7788F46}" presName="sibSpaceOne" presStyleCnt="0"/>
      <dgm:spPr/>
    </dgm:pt>
    <dgm:pt modelId="{F0CEAF75-D550-4A50-AA17-8B1F6A4ADF02}" type="pres">
      <dgm:prSet presAssocID="{CC4B62BA-1EDE-4FC1-B471-3E5317E6CDDA}" presName="vertOne" presStyleCnt="0"/>
      <dgm:spPr/>
    </dgm:pt>
    <dgm:pt modelId="{9A022A7E-30C7-4324-A487-D63532D28F24}" type="pres">
      <dgm:prSet presAssocID="{CC4B62BA-1EDE-4FC1-B471-3E5317E6CDDA}" presName="txOne" presStyleLbl="node0" presStyleIdx="3" presStyleCnt="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D1DE0D08-8405-4894-A1BD-0160E8DA6C25}" type="pres">
      <dgm:prSet presAssocID="{CC4B62BA-1EDE-4FC1-B471-3E5317E6CDDA}" presName="horzOne" presStyleCnt="0"/>
      <dgm:spPr/>
    </dgm:pt>
    <dgm:pt modelId="{629C5194-801D-49FC-8BF5-3D9A65FE2B16}" type="pres">
      <dgm:prSet presAssocID="{526ABB39-C36E-4F39-90A1-F07410056798}" presName="sibSpaceOne" presStyleCnt="0"/>
      <dgm:spPr/>
    </dgm:pt>
    <dgm:pt modelId="{2A8FC03F-B4ED-4FE2-9A8D-4CF51F8F8914}" type="pres">
      <dgm:prSet presAssocID="{118D96A4-79C2-4B0C-89BD-4FA7AFF705CA}" presName="vertOne" presStyleCnt="0"/>
      <dgm:spPr/>
    </dgm:pt>
    <dgm:pt modelId="{373BFA4C-E940-4F1A-808B-F27F0B4407A4}" type="pres">
      <dgm:prSet presAssocID="{118D96A4-79C2-4B0C-89BD-4FA7AFF705CA}" presName="txOne" presStyleLbl="node0" presStyleIdx="4" presStyleCnt="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0F9597B-1895-42E7-B3D6-0F915203C0D0}" type="pres">
      <dgm:prSet presAssocID="{118D96A4-79C2-4B0C-89BD-4FA7AFF705CA}" presName="horzOne" presStyleCnt="0"/>
      <dgm:spPr/>
    </dgm:pt>
    <dgm:pt modelId="{F3108E6E-9ADE-4AD0-A2F4-A2513DEB38F6}" type="pres">
      <dgm:prSet presAssocID="{D7B975B4-D8F9-43FB-B4A3-A77AB617E276}" presName="sibSpaceOne" presStyleCnt="0"/>
      <dgm:spPr/>
    </dgm:pt>
    <dgm:pt modelId="{2222DD1D-250B-4C58-AE98-E8E599EB71D4}" type="pres">
      <dgm:prSet presAssocID="{410499F7-D158-427E-B8D2-2E312B247580}" presName="vertOne" presStyleCnt="0"/>
      <dgm:spPr/>
    </dgm:pt>
    <dgm:pt modelId="{83402992-9AFA-4E61-9082-6165B918734B}" type="pres">
      <dgm:prSet presAssocID="{410499F7-D158-427E-B8D2-2E312B247580}" presName="txOne" presStyleLbl="node0" presStyleIdx="5" presStyleCnt="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F6F5343-3C6B-4509-A151-5EB06EC8A972}" type="pres">
      <dgm:prSet presAssocID="{410499F7-D158-427E-B8D2-2E312B247580}" presName="horzOne" presStyleCnt="0"/>
      <dgm:spPr/>
    </dgm:pt>
  </dgm:ptLst>
  <dgm:cxnLst>
    <dgm:cxn modelId="{3B3ADFD5-0EEB-4D90-A478-B81C113CAE82}" type="presOf" srcId="{D5A2A2E7-F5BA-4B5A-8C48-4E76ABF42F78}" destId="{957DB44D-B04B-4F19-B413-CB0EAAC27611}" srcOrd="0" destOrd="0" presId="urn:microsoft.com/office/officeart/2005/8/layout/hierarchy4"/>
    <dgm:cxn modelId="{E3FA6B06-1B67-4DCF-9E8B-DCE270CE4CD5}" srcId="{D5A2A2E7-F5BA-4B5A-8C48-4E76ABF42F78}" destId="{CC4B62BA-1EDE-4FC1-B471-3E5317E6CDDA}" srcOrd="3" destOrd="0" parTransId="{197064E5-42DB-4A91-8D3C-DBE42572AC22}" sibTransId="{526ABB39-C36E-4F39-90A1-F07410056798}"/>
    <dgm:cxn modelId="{147B0EB2-FDDE-471A-99DB-3CA6A588F30E}" srcId="{D5A2A2E7-F5BA-4B5A-8C48-4E76ABF42F78}" destId="{118D96A4-79C2-4B0C-89BD-4FA7AFF705CA}" srcOrd="4" destOrd="0" parTransId="{60D0F228-51E6-479E-94A9-FF31E8CA3034}" sibTransId="{D7B975B4-D8F9-43FB-B4A3-A77AB617E276}"/>
    <dgm:cxn modelId="{8AA1B38D-191A-42D1-AE17-5A9F2C8C4E24}" type="presOf" srcId="{118D96A4-79C2-4B0C-89BD-4FA7AFF705CA}" destId="{373BFA4C-E940-4F1A-808B-F27F0B4407A4}" srcOrd="0" destOrd="0" presId="urn:microsoft.com/office/officeart/2005/8/layout/hierarchy4"/>
    <dgm:cxn modelId="{C75683C0-0100-432D-B28D-F3BBE7D6A606}" srcId="{D5A2A2E7-F5BA-4B5A-8C48-4E76ABF42F78}" destId="{F12779DB-8C4C-4622-9864-0BBAD88629A7}" srcOrd="0" destOrd="0" parTransId="{F95B1026-5754-4509-B32B-8B2A17BAE8CA}" sibTransId="{B981BFBF-8F8E-4E56-B410-9C11A9FA3740}"/>
    <dgm:cxn modelId="{AB7F3CB4-3E3D-459F-B35A-23087A45600E}" srcId="{D5A2A2E7-F5BA-4B5A-8C48-4E76ABF42F78}" destId="{ED6ED3DA-1280-4AD5-BE04-FFF9A0890E83}" srcOrd="1" destOrd="0" parTransId="{A1AEE6DD-7EAC-44F2-ADA2-6B2961441019}" sibTransId="{030FDFF3-E541-4F0D-9E55-9D7395EE2D01}"/>
    <dgm:cxn modelId="{5E97A0E7-8D6D-49B3-B6E5-E51BD9AE920A}" type="presOf" srcId="{ED6ED3DA-1280-4AD5-BE04-FFF9A0890E83}" destId="{785199EB-A019-42EA-AED3-5370F17D6E6B}" srcOrd="0" destOrd="0" presId="urn:microsoft.com/office/officeart/2005/8/layout/hierarchy4"/>
    <dgm:cxn modelId="{B8B37314-0B4A-4B7C-881C-8C35C8FBDA6E}" type="presOf" srcId="{410499F7-D158-427E-B8D2-2E312B247580}" destId="{83402992-9AFA-4E61-9082-6165B918734B}" srcOrd="0" destOrd="0" presId="urn:microsoft.com/office/officeart/2005/8/layout/hierarchy4"/>
    <dgm:cxn modelId="{832FD0E0-7E0A-46F9-8ACD-569CE2C3B6B2}" srcId="{D5A2A2E7-F5BA-4B5A-8C48-4E76ABF42F78}" destId="{F7CA22C0-695E-444A-A8A0-9DEF6725AE6E}" srcOrd="2" destOrd="0" parTransId="{769FBD52-B072-45D0-B719-6CD84C141D53}" sibTransId="{7631FC74-FE40-44DC-ABF9-1E78A7788F46}"/>
    <dgm:cxn modelId="{68FFCEA1-0489-4E86-B66C-D5164B4CED14}" srcId="{D5A2A2E7-F5BA-4B5A-8C48-4E76ABF42F78}" destId="{410499F7-D158-427E-B8D2-2E312B247580}" srcOrd="5" destOrd="0" parTransId="{11E1A025-3618-4216-A26C-B23AC924E49B}" sibTransId="{D071A09B-C3D2-4F5F-A38E-813FC3D6ECB6}"/>
    <dgm:cxn modelId="{4528666E-D7FB-4312-A4E9-597439209663}" type="presOf" srcId="{CC4B62BA-1EDE-4FC1-B471-3E5317E6CDDA}" destId="{9A022A7E-30C7-4324-A487-D63532D28F24}" srcOrd="0" destOrd="0" presId="urn:microsoft.com/office/officeart/2005/8/layout/hierarchy4"/>
    <dgm:cxn modelId="{852754FB-370B-47DE-8D8C-52C6186CB583}" type="presOf" srcId="{F12779DB-8C4C-4622-9864-0BBAD88629A7}" destId="{A8338CAE-5863-4503-9231-5E062159E815}" srcOrd="0" destOrd="0" presId="urn:microsoft.com/office/officeart/2005/8/layout/hierarchy4"/>
    <dgm:cxn modelId="{919A205A-3502-4BAD-98C6-D3F11D8048F8}" type="presOf" srcId="{F7CA22C0-695E-444A-A8A0-9DEF6725AE6E}" destId="{7A52CE41-1C76-4DDB-9B6A-F151AF807A19}" srcOrd="0" destOrd="0" presId="urn:microsoft.com/office/officeart/2005/8/layout/hierarchy4"/>
    <dgm:cxn modelId="{B3F3A857-86C7-42B5-87BC-2E90584619EB}" type="presParOf" srcId="{957DB44D-B04B-4F19-B413-CB0EAAC27611}" destId="{C0CC9DA4-CFCE-4188-801B-55661927DDC6}" srcOrd="0" destOrd="0" presId="urn:microsoft.com/office/officeart/2005/8/layout/hierarchy4"/>
    <dgm:cxn modelId="{8903FBE7-E46C-472B-935C-4616B36529C5}" type="presParOf" srcId="{C0CC9DA4-CFCE-4188-801B-55661927DDC6}" destId="{A8338CAE-5863-4503-9231-5E062159E815}" srcOrd="0" destOrd="0" presId="urn:microsoft.com/office/officeart/2005/8/layout/hierarchy4"/>
    <dgm:cxn modelId="{7B6FF607-E3A2-4B92-9275-841BD28F96E3}" type="presParOf" srcId="{C0CC9DA4-CFCE-4188-801B-55661927DDC6}" destId="{AD15FCFA-99C3-462A-A381-D534F3575B3E}" srcOrd="1" destOrd="0" presId="urn:microsoft.com/office/officeart/2005/8/layout/hierarchy4"/>
    <dgm:cxn modelId="{28C81460-DCD8-416E-AB42-8CF36987C8BA}" type="presParOf" srcId="{957DB44D-B04B-4F19-B413-CB0EAAC27611}" destId="{1AEFF390-15FE-431D-A382-71D7E93A1949}" srcOrd="1" destOrd="0" presId="urn:microsoft.com/office/officeart/2005/8/layout/hierarchy4"/>
    <dgm:cxn modelId="{EC0A03E7-93B7-4F72-8D66-A5DA249260DE}" type="presParOf" srcId="{957DB44D-B04B-4F19-B413-CB0EAAC27611}" destId="{1A5503A8-D087-4A32-830B-B323BD98CF1A}" srcOrd="2" destOrd="0" presId="urn:microsoft.com/office/officeart/2005/8/layout/hierarchy4"/>
    <dgm:cxn modelId="{719D7DAD-6684-4FBB-BBA6-90ED30DD6BA6}" type="presParOf" srcId="{1A5503A8-D087-4A32-830B-B323BD98CF1A}" destId="{785199EB-A019-42EA-AED3-5370F17D6E6B}" srcOrd="0" destOrd="0" presId="urn:microsoft.com/office/officeart/2005/8/layout/hierarchy4"/>
    <dgm:cxn modelId="{84C7C351-3935-466C-8F5F-39D73ADA9964}" type="presParOf" srcId="{1A5503A8-D087-4A32-830B-B323BD98CF1A}" destId="{015686E1-CF53-4D13-9481-A20313D0FEAF}" srcOrd="1" destOrd="0" presId="urn:microsoft.com/office/officeart/2005/8/layout/hierarchy4"/>
    <dgm:cxn modelId="{14205FED-7035-4B87-BE4E-612748D01B28}" type="presParOf" srcId="{957DB44D-B04B-4F19-B413-CB0EAAC27611}" destId="{BB683615-F577-42D8-BE3A-C2B35CC452EE}" srcOrd="3" destOrd="0" presId="urn:microsoft.com/office/officeart/2005/8/layout/hierarchy4"/>
    <dgm:cxn modelId="{5ACF68AE-04CC-4808-B06B-2DCF12C4C296}" type="presParOf" srcId="{957DB44D-B04B-4F19-B413-CB0EAAC27611}" destId="{9C63A49B-26F4-4647-89B5-0025D73F00C7}" srcOrd="4" destOrd="0" presId="urn:microsoft.com/office/officeart/2005/8/layout/hierarchy4"/>
    <dgm:cxn modelId="{5A37B2FA-C57C-48A7-BB03-87324C0D09C8}" type="presParOf" srcId="{9C63A49B-26F4-4647-89B5-0025D73F00C7}" destId="{7A52CE41-1C76-4DDB-9B6A-F151AF807A19}" srcOrd="0" destOrd="0" presId="urn:microsoft.com/office/officeart/2005/8/layout/hierarchy4"/>
    <dgm:cxn modelId="{2CD4453E-5389-4008-8590-28D767078231}" type="presParOf" srcId="{9C63A49B-26F4-4647-89B5-0025D73F00C7}" destId="{1D68D310-61F3-48C2-B96C-145B61C8C25D}" srcOrd="1" destOrd="0" presId="urn:microsoft.com/office/officeart/2005/8/layout/hierarchy4"/>
    <dgm:cxn modelId="{008326FC-C9BD-4296-A848-A23F109695A6}" type="presParOf" srcId="{957DB44D-B04B-4F19-B413-CB0EAAC27611}" destId="{C3B14F77-4090-412C-9930-37B15BCE8A71}" srcOrd="5" destOrd="0" presId="urn:microsoft.com/office/officeart/2005/8/layout/hierarchy4"/>
    <dgm:cxn modelId="{87C746F4-812B-4556-A44C-F990C317715E}" type="presParOf" srcId="{957DB44D-B04B-4F19-B413-CB0EAAC27611}" destId="{F0CEAF75-D550-4A50-AA17-8B1F6A4ADF02}" srcOrd="6" destOrd="0" presId="urn:microsoft.com/office/officeart/2005/8/layout/hierarchy4"/>
    <dgm:cxn modelId="{31523116-2F09-493C-8B48-461212C91651}" type="presParOf" srcId="{F0CEAF75-D550-4A50-AA17-8B1F6A4ADF02}" destId="{9A022A7E-30C7-4324-A487-D63532D28F24}" srcOrd="0" destOrd="0" presId="urn:microsoft.com/office/officeart/2005/8/layout/hierarchy4"/>
    <dgm:cxn modelId="{24D10D5C-D6F1-4F08-8A2C-747941FF3159}" type="presParOf" srcId="{F0CEAF75-D550-4A50-AA17-8B1F6A4ADF02}" destId="{D1DE0D08-8405-4894-A1BD-0160E8DA6C25}" srcOrd="1" destOrd="0" presId="urn:microsoft.com/office/officeart/2005/8/layout/hierarchy4"/>
    <dgm:cxn modelId="{31F3DCA9-D4AA-45F9-B721-41B859E7998B}" type="presParOf" srcId="{957DB44D-B04B-4F19-B413-CB0EAAC27611}" destId="{629C5194-801D-49FC-8BF5-3D9A65FE2B16}" srcOrd="7" destOrd="0" presId="urn:microsoft.com/office/officeart/2005/8/layout/hierarchy4"/>
    <dgm:cxn modelId="{D905E2ED-C031-4197-8529-01F62B905289}" type="presParOf" srcId="{957DB44D-B04B-4F19-B413-CB0EAAC27611}" destId="{2A8FC03F-B4ED-4FE2-9A8D-4CF51F8F8914}" srcOrd="8" destOrd="0" presId="urn:microsoft.com/office/officeart/2005/8/layout/hierarchy4"/>
    <dgm:cxn modelId="{91475005-497D-43EC-9CDB-E7DA13C04E9B}" type="presParOf" srcId="{2A8FC03F-B4ED-4FE2-9A8D-4CF51F8F8914}" destId="{373BFA4C-E940-4F1A-808B-F27F0B4407A4}" srcOrd="0" destOrd="0" presId="urn:microsoft.com/office/officeart/2005/8/layout/hierarchy4"/>
    <dgm:cxn modelId="{B72C033C-0DAE-458F-A377-A20E1512B447}" type="presParOf" srcId="{2A8FC03F-B4ED-4FE2-9A8D-4CF51F8F8914}" destId="{10F9597B-1895-42E7-B3D6-0F915203C0D0}" srcOrd="1" destOrd="0" presId="urn:microsoft.com/office/officeart/2005/8/layout/hierarchy4"/>
    <dgm:cxn modelId="{438FAA2F-4AA0-4FC4-8331-4CE8C4B972D3}" type="presParOf" srcId="{957DB44D-B04B-4F19-B413-CB0EAAC27611}" destId="{F3108E6E-9ADE-4AD0-A2F4-A2513DEB38F6}" srcOrd="9" destOrd="0" presId="urn:microsoft.com/office/officeart/2005/8/layout/hierarchy4"/>
    <dgm:cxn modelId="{5BDB5C4A-1525-49FF-845A-6D3706BDBF98}" type="presParOf" srcId="{957DB44D-B04B-4F19-B413-CB0EAAC27611}" destId="{2222DD1D-250B-4C58-AE98-E8E599EB71D4}" srcOrd="10" destOrd="0" presId="urn:microsoft.com/office/officeart/2005/8/layout/hierarchy4"/>
    <dgm:cxn modelId="{1D949F42-0FDE-449A-B488-022D8635D6BC}" type="presParOf" srcId="{2222DD1D-250B-4C58-AE98-E8E599EB71D4}" destId="{83402992-9AFA-4E61-9082-6165B918734B}" srcOrd="0" destOrd="0" presId="urn:microsoft.com/office/officeart/2005/8/layout/hierarchy4"/>
    <dgm:cxn modelId="{2B063777-96E2-490C-A39E-C9F4E23EDF54}" type="presParOf" srcId="{2222DD1D-250B-4C58-AE98-E8E599EB71D4}" destId="{AF6F5343-3C6B-4509-A151-5EB06EC8A972}" srcOrd="1" destOrd="0" presId="urn:microsoft.com/office/officeart/2005/8/layout/hierarchy4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338CAE-5863-4503-9231-5E062159E815}">
      <dsp:nvSpPr>
        <dsp:cNvPr id="0" name=""/>
        <dsp:cNvSpPr/>
      </dsp:nvSpPr>
      <dsp:spPr>
        <a:xfrm>
          <a:off x="0" y="0"/>
          <a:ext cx="1520641" cy="4028622"/>
        </a:xfrm>
        <a:prstGeom prst="roundRect">
          <a:avLst>
            <a:gd name="adj" fmla="val 10000"/>
          </a:avLst>
        </a:prstGeom>
        <a:noFill/>
        <a:ln w="12700" cap="flat" cmpd="sng" algn="ctr"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2000">
                <a:srgbClr val="2302AE"/>
              </a:gs>
            </a:gsLst>
            <a:lin ang="2700000" scaled="1"/>
            <a:tileRect/>
          </a:gra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i="0" kern="120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rPr>
            <a:t>Agentic orchestration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1" i="0" kern="1200" cap="none" spc="0" dirty="0" smtClean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+mj-lt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 dirty="0" smtClean="0">
              <a:solidFill>
                <a:schemeClr val="tx1"/>
              </a:solidFill>
              <a:latin typeface="+mj-lt"/>
            </a:rPr>
            <a:t>A conversation manager coordinates specialized agents; workflows are not a single fixed chain</a:t>
          </a:r>
          <a:endParaRPr lang="en-IN" sz="14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+mj-lt"/>
          </a:endParaRPr>
        </a:p>
      </dsp:txBody>
      <dsp:txXfrm>
        <a:off x="44538" y="44538"/>
        <a:ext cx="1431565" cy="3939546"/>
      </dsp:txXfrm>
    </dsp:sp>
    <dsp:sp modelId="{785199EB-A019-42EA-AED3-5370F17D6E6B}">
      <dsp:nvSpPr>
        <dsp:cNvPr id="0" name=""/>
        <dsp:cNvSpPr/>
      </dsp:nvSpPr>
      <dsp:spPr>
        <a:xfrm>
          <a:off x="1765173" y="0"/>
          <a:ext cx="1444145" cy="4028622"/>
        </a:xfrm>
        <a:prstGeom prst="roundRect">
          <a:avLst>
            <a:gd name="adj" fmla="val 10000"/>
          </a:avLst>
        </a:prstGeom>
        <a:noFill/>
        <a:ln w="12700" cap="flat" cmpd="sng" algn="ctr"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2000">
                <a:srgbClr val="2302AE"/>
              </a:gs>
            </a:gsLst>
            <a:lin ang="2700000" scaled="1"/>
            <a:tileRect/>
          </a:gra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i="0" kern="1200" dirty="0" smtClean="0">
              <a:latin typeface="+mj-lt"/>
            </a:rPr>
            <a:t>LangGraph </a:t>
          </a:r>
          <a:r>
            <a:rPr lang="en-IN" sz="1600" b="1" i="0" kern="1200" dirty="0" smtClean="0">
              <a:latin typeface="+mj-lt"/>
            </a:rPr>
            <a:t>Control </a:t>
          </a:r>
          <a:r>
            <a:rPr lang="en-IN" sz="1600" b="1" i="0" kern="1200" dirty="0" smtClean="0">
              <a:latin typeface="+mj-lt"/>
            </a:rPr>
            <a:t>flow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1" i="0" kern="1200" dirty="0" smtClean="0">
            <a:latin typeface="+mj-lt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 dirty="0" smtClean="0">
              <a:latin typeface="+mj-lt"/>
            </a:rPr>
            <a:t>Nodes (agents/steps), edges (transitions), and conditions (which path to take) are first-class; supports loops for retry and user confirmation</a:t>
          </a:r>
          <a:endParaRPr lang="en-IN" sz="1400" b="0" kern="1200" dirty="0">
            <a:latin typeface="+mj-lt"/>
          </a:endParaRPr>
        </a:p>
      </dsp:txBody>
      <dsp:txXfrm>
        <a:off x="1807471" y="42298"/>
        <a:ext cx="1359549" cy="3944026"/>
      </dsp:txXfrm>
    </dsp:sp>
    <dsp:sp modelId="{7A52CE41-1C76-4DDB-9B6A-F151AF807A19}">
      <dsp:nvSpPr>
        <dsp:cNvPr id="0" name=""/>
        <dsp:cNvSpPr/>
      </dsp:nvSpPr>
      <dsp:spPr>
        <a:xfrm>
          <a:off x="3451935" y="0"/>
          <a:ext cx="1444145" cy="4028622"/>
        </a:xfrm>
        <a:prstGeom prst="roundRect">
          <a:avLst>
            <a:gd name="adj" fmla="val 10000"/>
          </a:avLst>
        </a:prstGeom>
        <a:noFill/>
        <a:ln w="12700" cap="flat" cmpd="sng" algn="ctr"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2000">
                <a:srgbClr val="2302AE"/>
              </a:gs>
            </a:gsLst>
            <a:lin ang="2700000" scaled="1"/>
            <a:tileRect/>
          </a:gra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i="0" kern="120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rPr>
            <a:t>Multimodal RAG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0" i="0" kern="1200" cap="none" spc="0" dirty="0" smtClean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+mj-lt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 dirty="0" err="1" smtClean="0">
              <a:solidFill>
                <a:schemeClr val="tx1"/>
              </a:solidFill>
              <a:latin typeface="+mj-lt"/>
            </a:rPr>
            <a:t>FalkorDB</a:t>
          </a:r>
          <a:r>
            <a:rPr lang="en-US" sz="1400" b="0" i="0" kern="1200" dirty="0" smtClean="0">
              <a:solidFill>
                <a:schemeClr val="tx1"/>
              </a:solidFill>
              <a:latin typeface="+mj-lt"/>
            </a:rPr>
            <a:t> stores text, image, OCR, and multilingual vectors for retrieval-augmented grounding.</a:t>
          </a:r>
          <a:endParaRPr lang="en-IN" sz="14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+mj-lt"/>
          </a:endParaRPr>
        </a:p>
      </dsp:txBody>
      <dsp:txXfrm>
        <a:off x="3494233" y="42298"/>
        <a:ext cx="1359549" cy="3944026"/>
      </dsp:txXfrm>
    </dsp:sp>
    <dsp:sp modelId="{9A022A7E-30C7-4324-A487-D63532D28F24}">
      <dsp:nvSpPr>
        <dsp:cNvPr id="0" name=""/>
        <dsp:cNvSpPr/>
      </dsp:nvSpPr>
      <dsp:spPr>
        <a:xfrm>
          <a:off x="5138697" y="0"/>
          <a:ext cx="1444145" cy="4028622"/>
        </a:xfrm>
        <a:prstGeom prst="roundRect">
          <a:avLst>
            <a:gd name="adj" fmla="val 10000"/>
          </a:avLst>
        </a:prstGeom>
        <a:noFill/>
        <a:ln w="12700" cap="flat" cmpd="sng" algn="ctr"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2000">
                <a:srgbClr val="2302AE"/>
              </a:gs>
            </a:gsLst>
            <a:lin ang="2700000" scaled="1"/>
            <a:tileRect/>
          </a:gra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i="0" kern="1200" dirty="0" smtClean="0">
              <a:latin typeface="+mj-lt"/>
            </a:rPr>
            <a:t>Confidence-aware automation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1" i="0" kern="1200" dirty="0" smtClean="0">
            <a:latin typeface="+mj-lt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 dirty="0" smtClean="0">
              <a:latin typeface="+mj-lt"/>
            </a:rPr>
            <a:t>High / medium / low confidence gates drive billing, user confirmation, or fallback—not blind automation.</a:t>
          </a:r>
          <a:endParaRPr lang="en-IN" sz="1400" b="0" kern="1200" dirty="0">
            <a:latin typeface="+mj-lt"/>
          </a:endParaRPr>
        </a:p>
      </dsp:txBody>
      <dsp:txXfrm>
        <a:off x="5180995" y="42298"/>
        <a:ext cx="1359549" cy="3944026"/>
      </dsp:txXfrm>
    </dsp:sp>
    <dsp:sp modelId="{373BFA4C-E940-4F1A-808B-F27F0B4407A4}">
      <dsp:nvSpPr>
        <dsp:cNvPr id="0" name=""/>
        <dsp:cNvSpPr/>
      </dsp:nvSpPr>
      <dsp:spPr>
        <a:xfrm>
          <a:off x="6825459" y="0"/>
          <a:ext cx="1444145" cy="4028622"/>
        </a:xfrm>
        <a:prstGeom prst="roundRect">
          <a:avLst>
            <a:gd name="adj" fmla="val 10000"/>
          </a:avLst>
        </a:prstGeom>
        <a:noFill/>
        <a:ln w="12700" cap="flat" cmpd="sng" algn="ctr"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2000">
                <a:srgbClr val="2302AE"/>
              </a:gs>
            </a:gsLst>
            <a:lin ang="2700000" scaled="1"/>
            <a:tileRect/>
          </a:gra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i="0" kern="120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rPr>
            <a:t>Guardrails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0" i="0" kern="1200" cap="none" spc="0" dirty="0" smtClean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+mj-lt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 dirty="0" smtClean="0">
              <a:solidFill>
                <a:schemeClr val="tx1"/>
              </a:solidFill>
              <a:latin typeface="+mj-lt"/>
            </a:rPr>
            <a:t>Input validation, policy constraints, and thresholds before irreversible actions (e.g. billing).</a:t>
          </a:r>
          <a:endParaRPr lang="en-IN" sz="14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+mj-lt"/>
          </a:endParaRPr>
        </a:p>
      </dsp:txBody>
      <dsp:txXfrm>
        <a:off x="6867757" y="42298"/>
        <a:ext cx="1359549" cy="3944026"/>
      </dsp:txXfrm>
    </dsp:sp>
    <dsp:sp modelId="{83402992-9AFA-4E61-9082-6165B918734B}">
      <dsp:nvSpPr>
        <dsp:cNvPr id="0" name=""/>
        <dsp:cNvSpPr/>
      </dsp:nvSpPr>
      <dsp:spPr>
        <a:xfrm>
          <a:off x="8512221" y="0"/>
          <a:ext cx="1444145" cy="4028622"/>
        </a:xfrm>
        <a:prstGeom prst="roundRect">
          <a:avLst>
            <a:gd name="adj" fmla="val 10000"/>
          </a:avLst>
        </a:prstGeom>
        <a:noFill/>
        <a:ln w="12700" cap="flat" cmpd="sng" algn="ctr"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2000">
                <a:srgbClr val="2302AE"/>
              </a:gs>
            </a:gsLst>
            <a:lin ang="2700000" scaled="1"/>
            <a:tileRect/>
          </a:gra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i="0" kern="1200" dirty="0" smtClean="0">
              <a:latin typeface="+mj-lt"/>
            </a:rPr>
            <a:t>Open-source stack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600" b="1" i="0" kern="1200" dirty="0" smtClean="0">
            <a:latin typeface="+mj-lt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 dirty="0" smtClean="0">
              <a:solidFill>
                <a:schemeClr val="bg1"/>
              </a:solidFill>
              <a:latin typeface="+mj-lt"/>
            </a:rPr>
            <a:t>Python, </a:t>
          </a:r>
          <a:r>
            <a:rPr lang="en-US" sz="1400" b="0" i="0" kern="1200" dirty="0" err="1" smtClean="0">
              <a:solidFill>
                <a:schemeClr val="bg1"/>
              </a:solidFill>
              <a:latin typeface="+mj-lt"/>
            </a:rPr>
            <a:t>Streamlit</a:t>
          </a:r>
          <a:r>
            <a:rPr lang="en-US" sz="1400" b="0" i="0" kern="1200" dirty="0" smtClean="0">
              <a:solidFill>
                <a:schemeClr val="bg1"/>
              </a:solidFill>
              <a:latin typeface="+mj-lt"/>
            </a:rPr>
            <a:t>, LangGraph, open LLMs and embedding models, enabling reproducibility and cost control.</a:t>
          </a:r>
          <a:endParaRPr lang="en-IN" sz="1400" b="0" kern="1200" dirty="0">
            <a:solidFill>
              <a:schemeClr val="bg1"/>
            </a:solidFill>
            <a:latin typeface="+mj-lt"/>
          </a:endParaRPr>
        </a:p>
      </dsp:txBody>
      <dsp:txXfrm>
        <a:off x="8554519" y="42298"/>
        <a:ext cx="1359549" cy="39440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05BF3D-6457-4EAC-85D2-33D2AE8C1855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584EB-3D7C-43EE-A3AF-01991E468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847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584EB-3D7C-43EE-A3AF-01991E46874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85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584EB-3D7C-43EE-A3AF-01991E46874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457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181675-20A3-47DE-B5E8-1E014A822E7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31E27E-442D-474C-9460-EDC3F936B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228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181675-20A3-47DE-B5E8-1E014A822E7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31E27E-442D-474C-9460-EDC3F936B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824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181675-20A3-47DE-B5E8-1E014A822E7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31E27E-442D-474C-9460-EDC3F936B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979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181675-20A3-47DE-B5E8-1E014A822E7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31E27E-442D-474C-9460-EDC3F936B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409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181675-20A3-47DE-B5E8-1E014A822E7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31E27E-442D-474C-9460-EDC3F936B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549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181675-20A3-47DE-B5E8-1E014A822E7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31E27E-442D-474C-9460-EDC3F936B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40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181675-20A3-47DE-B5E8-1E014A822E7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31E27E-442D-474C-9460-EDC3F936B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693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181675-20A3-47DE-B5E8-1E014A822E7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31E27E-442D-474C-9460-EDC3F936B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181675-20A3-47DE-B5E8-1E014A822E7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31E27E-442D-474C-9460-EDC3F936B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592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181675-20A3-47DE-B5E8-1E014A822E7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31E27E-442D-474C-9460-EDC3F936B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10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181675-20A3-47DE-B5E8-1E014A822E7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31E27E-442D-474C-9460-EDC3F936B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704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552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c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3591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C0CC77-F14D-4983-9C90-A8845C85BB7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7BC271-43C3-4A9C-A5C9-AEDC4DB25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638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C0CC77-F14D-4983-9C90-A8845C85BB7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7BC271-43C3-4A9C-A5C9-AEDC4DB25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775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C0CC77-F14D-4983-9C90-A8845C85BB7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7BC271-43C3-4A9C-A5C9-AEDC4DB25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678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C0CC77-F14D-4983-9C90-A8845C85BB7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7BC271-43C3-4A9C-A5C9-AEDC4DB25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9863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C0CC77-F14D-4983-9C90-A8845C85BB7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7BC271-43C3-4A9C-A5C9-AEDC4DB25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209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C0CC77-F14D-4983-9C90-A8845C85BB7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7BC271-43C3-4A9C-A5C9-AEDC4DB25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3346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C0CC77-F14D-4983-9C90-A8845C85BB7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7BC271-43C3-4A9C-A5C9-AEDC4DB25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3529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C0CC77-F14D-4983-9C90-A8845C85BB7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7BC271-43C3-4A9C-A5C9-AEDC4DB25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1617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C0CC77-F14D-4983-9C90-A8845C85BB7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7BC271-43C3-4A9C-A5C9-AEDC4DB25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65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C0CC77-F14D-4983-9C90-A8845C85BB7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7BC271-43C3-4A9C-A5C9-AEDC4DB25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7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A162FE"/>
            </a:gs>
            <a:gs pos="0">
              <a:srgbClr val="2F2FFF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IIT Roorkee"/>
          <p:cNvPicPr>
            <a:picLocks noChangeAspect="1" noChangeArrowheads="1"/>
          </p:cNvPicPr>
          <p:nvPr userDrawn="1"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1942"/>
          <a:stretch/>
        </p:blipFill>
        <p:spPr bwMode="auto">
          <a:xfrm>
            <a:off x="470989" y="174122"/>
            <a:ext cx="1104592" cy="1018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402037" y="174122"/>
            <a:ext cx="53879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i="0" dirty="0" smtClean="0">
                <a:solidFill>
                  <a:schemeClr val="bg1">
                    <a:lumMod val="85000"/>
                  </a:schemeClr>
                </a:solidFill>
                <a:effectLst/>
              </a:rPr>
              <a:t>Agentic</a:t>
            </a:r>
            <a:endParaRPr lang="en-IN" sz="2800" b="1" i="0" dirty="0" smtClean="0">
              <a:solidFill>
                <a:schemeClr val="bg1">
                  <a:lumMod val="85000"/>
                </a:schemeClr>
              </a:solidFill>
              <a:effectLst/>
            </a:endParaRPr>
          </a:p>
          <a:p>
            <a:pPr algn="ctr"/>
            <a:r>
              <a:rPr lang="en-IN" sz="2800" b="1" i="0" dirty="0" smtClean="0">
                <a:solidFill>
                  <a:schemeClr val="bg1"/>
                </a:solidFill>
                <a:effectLst/>
              </a:rPr>
              <a:t>Multimodal Commerce Platform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1197883" y="6372664"/>
            <a:ext cx="7672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Group 20</a:t>
            </a:r>
            <a:endParaRPr lang="en-IN" sz="1200" b="0" dirty="0">
              <a:solidFill>
                <a:schemeClr val="accent1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0" name="Rounded Rectangle 9"/>
          <p:cNvSpPr/>
          <p:nvPr userDrawn="1"/>
        </p:nvSpPr>
        <p:spPr>
          <a:xfrm>
            <a:off x="109538" y="104776"/>
            <a:ext cx="11972925" cy="6681788"/>
          </a:xfrm>
          <a:prstGeom prst="roundRect">
            <a:avLst>
              <a:gd name="adj" fmla="val 962"/>
            </a:avLst>
          </a:prstGeom>
          <a:noFill/>
          <a:ln>
            <a:solidFill>
              <a:srgbClr val="745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 userDrawn="1"/>
        </p:nvSpPr>
        <p:spPr>
          <a:xfrm>
            <a:off x="12030472" y="104776"/>
            <a:ext cx="103981" cy="103981"/>
          </a:xfrm>
          <a:prstGeom prst="ellipse">
            <a:avLst/>
          </a:prstGeom>
          <a:solidFill>
            <a:srgbClr val="B7A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819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10000" decel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026 0.32407 0.00065 0.64814 0.00104 0.97222 L -0.98021 0.97222 C -0.98099 0.64814 -0.98165 0.32407 -0.9823 0 L 0 0 Z " pathEditMode="relative" ptsTypes="AAAAA">
                                      <p:cBhvr>
                                        <p:cTn id="6" dur="1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664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3.wdp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hyperlink" Target="https://www.dynatrace.com/info/reports/the-pulse-of-agentic-ai-in-2026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07/relationships/hdphoto" Target="../media/hdphoto7.wdp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3" Type="http://schemas.openxmlformats.org/officeDocument/2006/relationships/diagramLayout" Target="../diagrams/layout1.xml"/><Relationship Id="rId7" Type="http://schemas.openxmlformats.org/officeDocument/2006/relationships/image" Target="../media/image2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microsoft.com/office/2007/relationships/hdphoto" Target="../media/hdphoto16.wdp"/><Relationship Id="rId18" Type="http://schemas.openxmlformats.org/officeDocument/2006/relationships/image" Target="../media/image29.png"/><Relationship Id="rId3" Type="http://schemas.microsoft.com/office/2007/relationships/hdphoto" Target="../media/hdphoto11.wdp"/><Relationship Id="rId21" Type="http://schemas.microsoft.com/office/2007/relationships/hdphoto" Target="../media/hdphoto20.wdp"/><Relationship Id="rId7" Type="http://schemas.microsoft.com/office/2007/relationships/hdphoto" Target="../media/hdphoto13.wdp"/><Relationship Id="rId12" Type="http://schemas.openxmlformats.org/officeDocument/2006/relationships/image" Target="../media/image26.png"/><Relationship Id="rId17" Type="http://schemas.microsoft.com/office/2007/relationships/hdphoto" Target="../media/hdphoto18.wdp"/><Relationship Id="rId2" Type="http://schemas.openxmlformats.org/officeDocument/2006/relationships/image" Target="../media/image21.png"/><Relationship Id="rId16" Type="http://schemas.openxmlformats.org/officeDocument/2006/relationships/image" Target="../media/image28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microsoft.com/office/2007/relationships/hdphoto" Target="../media/hdphoto15.wdp"/><Relationship Id="rId5" Type="http://schemas.microsoft.com/office/2007/relationships/hdphoto" Target="../media/hdphoto12.wdp"/><Relationship Id="rId15" Type="http://schemas.microsoft.com/office/2007/relationships/hdphoto" Target="../media/hdphoto17.wdp"/><Relationship Id="rId10" Type="http://schemas.openxmlformats.org/officeDocument/2006/relationships/image" Target="../media/image25.png"/><Relationship Id="rId19" Type="http://schemas.microsoft.com/office/2007/relationships/hdphoto" Target="../media/hdphoto19.wdp"/><Relationship Id="rId4" Type="http://schemas.openxmlformats.org/officeDocument/2006/relationships/image" Target="../media/image22.png"/><Relationship Id="rId9" Type="http://schemas.microsoft.com/office/2007/relationships/hdphoto" Target="../media/hdphoto14.wdp"/><Relationship Id="rId1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2.wdp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4.wdp"/><Relationship Id="rId5" Type="http://schemas.openxmlformats.org/officeDocument/2006/relationships/image" Target="../media/image34.png"/><Relationship Id="rId10" Type="http://schemas.openxmlformats.org/officeDocument/2006/relationships/image" Target="../media/image37.png"/><Relationship Id="rId4" Type="http://schemas.microsoft.com/office/2007/relationships/hdphoto" Target="../media/hdphoto23.wdp"/><Relationship Id="rId9" Type="http://schemas.microsoft.com/office/2007/relationships/hdphoto" Target="../media/hdphoto25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8371245" y="1885071"/>
            <a:ext cx="3530021" cy="2940148"/>
          </a:xfrm>
          <a:prstGeom prst="roundRect">
            <a:avLst>
              <a:gd name="adj" fmla="val 3176"/>
            </a:avLst>
          </a:prstGeom>
          <a:noFill/>
          <a:ln w="254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3000">
                  <a:srgbClr val="2302AE"/>
                </a:gs>
              </a:gsLst>
              <a:lin ang="2700000" scaled="1"/>
              <a:tileRect/>
            </a:gra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algn="ctr"/>
            <a:r>
              <a:rPr lang="en-US" sz="2000" b="1" u="sng" dirty="0" smtClean="0">
                <a:solidFill>
                  <a:schemeClr val="tx1"/>
                </a:solidFill>
                <a:cs typeface="Arial" panose="020B0604020202020204" pitchFamily="34" charset="0"/>
              </a:rPr>
              <a:t>Contributors</a:t>
            </a:r>
          </a:p>
          <a:p>
            <a:pPr algn="ctr"/>
            <a:endParaRPr lang="en-US" sz="2000" b="1" dirty="0" smtClean="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800" dirty="0" smtClean="0"/>
          </a:p>
          <a:p>
            <a:r>
              <a:rPr lang="en-IN" sz="12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Nishchay Tiwari </a:t>
            </a:r>
            <a:r>
              <a:rPr lang="en-IN" sz="1200" b="1" i="1" dirty="0">
                <a:solidFill>
                  <a:srgbClr val="CCCCFF"/>
                </a:solidFill>
                <a:latin typeface="+mj-lt"/>
                <a:cs typeface="Arial" panose="020B0604020202020204" pitchFamily="34" charset="0"/>
              </a:rPr>
              <a:t>tiwarinish92@gmail.com</a:t>
            </a:r>
          </a:p>
          <a:p>
            <a:r>
              <a:rPr lang="en-IN" sz="1200" b="1" dirty="0" err="1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Sivaswamy</a:t>
            </a:r>
            <a:r>
              <a:rPr lang="en-IN" sz="12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Akilesh </a:t>
            </a:r>
            <a:r>
              <a:rPr lang="en-IN" sz="1200" b="1" i="1" dirty="0" smtClean="0">
                <a:solidFill>
                  <a:srgbClr val="CCCCFF"/>
                </a:solidFill>
                <a:latin typeface="+mj-lt"/>
                <a:cs typeface="Arial" panose="020B0604020202020204" pitchFamily="34" charset="0"/>
              </a:rPr>
              <a:t>akilesh10a@gmail.com </a:t>
            </a:r>
            <a:endParaRPr lang="en-IN" sz="1200" b="1" dirty="0" smtClean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n-IN" sz="12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Jaydeep Kumar </a:t>
            </a:r>
            <a:r>
              <a:rPr lang="en-IN" sz="1200" b="1" i="1" dirty="0">
                <a:solidFill>
                  <a:srgbClr val="CCCCFF"/>
                </a:solidFill>
                <a:latin typeface="+mj-lt"/>
                <a:cs typeface="Arial" panose="020B0604020202020204" pitchFamily="34" charset="0"/>
              </a:rPr>
              <a:t>kumarjaydeep09@gmail.com</a:t>
            </a:r>
          </a:p>
          <a:p>
            <a:r>
              <a:rPr lang="en-IN" sz="12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Shivanshu </a:t>
            </a:r>
            <a:r>
              <a:rPr lang="en-IN" sz="12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Soni</a:t>
            </a:r>
            <a:endParaRPr lang="en-IN" sz="1200" b="1" dirty="0" smtClean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n-IN" sz="12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Lalith Kumar</a:t>
            </a:r>
          </a:p>
          <a:p>
            <a:r>
              <a:rPr lang="en-US" sz="12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Arindam Nag </a:t>
            </a:r>
            <a:r>
              <a:rPr lang="en-US" sz="1200" b="1" i="1" dirty="0">
                <a:solidFill>
                  <a:srgbClr val="CCCCFF"/>
                </a:solidFill>
                <a:latin typeface="+mj-lt"/>
                <a:cs typeface="Arial" panose="020B0604020202020204" pitchFamily="34" charset="0"/>
              </a:rPr>
              <a:t>arindamng@gmail.com</a:t>
            </a:r>
          </a:p>
          <a:p>
            <a:r>
              <a:rPr lang="en-US" sz="1200" b="1" dirty="0" err="1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Shivaj</a:t>
            </a:r>
            <a:r>
              <a:rPr lang="en-US" sz="12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More</a:t>
            </a:r>
            <a:endParaRPr lang="en-IN" sz="12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24882" y="442173"/>
            <a:ext cx="6737385" cy="6160011"/>
            <a:chOff x="524882" y="442173"/>
            <a:chExt cx="6737385" cy="6160011"/>
          </a:xfrm>
        </p:grpSpPr>
        <p:sp>
          <p:nvSpPr>
            <p:cNvPr id="14" name="Oval 13"/>
            <p:cNvSpPr/>
            <p:nvPr/>
          </p:nvSpPr>
          <p:spPr>
            <a:xfrm>
              <a:off x="1813530" y="1696793"/>
              <a:ext cx="3978229" cy="3978229"/>
            </a:xfrm>
            <a:prstGeom prst="ellipse">
              <a:avLst/>
            </a:prstGeom>
            <a:gradFill flip="none" rotWithShape="1">
              <a:gsLst>
                <a:gs pos="87000">
                  <a:srgbClr val="5027FD"/>
                </a:gs>
                <a:gs pos="0">
                  <a:srgbClr val="A679FF"/>
                </a:gs>
                <a:gs pos="91000">
                  <a:srgbClr val="1D09FF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effectLst>
              <a:glow rad="1905000">
                <a:schemeClr val="bg1">
                  <a:alpha val="18000"/>
                </a:schemeClr>
              </a:glow>
              <a:softEdge rad="635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4882" y="1478675"/>
              <a:ext cx="6737385" cy="36625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9600" b="0" cap="none" spc="0" dirty="0" smtClean="0">
                  <a:ln w="0"/>
                  <a:gradFill>
                    <a:gsLst>
                      <a:gs pos="100000">
                        <a:srgbClr val="2100EA"/>
                      </a:gs>
                      <a:gs pos="0">
                        <a:srgbClr val="7B65FF"/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  <a:latin typeface="Agency FB" panose="020B0503020202020204" pitchFamily="34" charset="0"/>
                </a:rPr>
                <a:t>Agentic</a:t>
              </a:r>
            </a:p>
            <a:p>
              <a:pPr algn="ctr"/>
              <a:endParaRPr lang="en-US" sz="2000" b="0" cap="none" spc="0" dirty="0" smtClean="0">
                <a:ln w="0"/>
                <a:gradFill>
                  <a:gsLst>
                    <a:gs pos="100000">
                      <a:srgbClr val="2100EA"/>
                    </a:gs>
                    <a:gs pos="0">
                      <a:srgbClr val="7B65FF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gency FB" panose="020B0503020202020204" pitchFamily="34" charset="0"/>
              </a:endParaRPr>
            </a:p>
            <a:p>
              <a:pPr algn="ctr"/>
              <a:endParaRPr lang="en-US" sz="2000" b="0" cap="none" spc="0" dirty="0" smtClean="0">
                <a:ln w="0"/>
                <a:gradFill>
                  <a:gsLst>
                    <a:gs pos="100000">
                      <a:srgbClr val="2100EA"/>
                    </a:gs>
                    <a:gs pos="0">
                      <a:srgbClr val="7B65FF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gency FB" panose="020B0503020202020204" pitchFamily="34" charset="0"/>
              </a:endParaRPr>
            </a:p>
            <a:p>
              <a:pPr algn="ctr"/>
              <a:r>
                <a:rPr lang="en-US" sz="9600" b="0" cap="none" spc="0" dirty="0" smtClean="0">
                  <a:ln w="0"/>
                  <a:gradFill>
                    <a:gsLst>
                      <a:gs pos="100000">
                        <a:srgbClr val="2100EA"/>
                      </a:gs>
                      <a:gs pos="0">
                        <a:srgbClr val="7B65FF"/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  <a:latin typeface="Agency FB" panose="020B0503020202020204" pitchFamily="34" charset="0"/>
                </a:rPr>
                <a:t> AI</a:t>
              </a:r>
              <a:endParaRPr lang="en-US" sz="9600" b="0" cap="none" spc="0" dirty="0">
                <a:ln w="0"/>
                <a:gradFill>
                  <a:gsLst>
                    <a:gs pos="100000">
                      <a:srgbClr val="2100EA"/>
                    </a:gs>
                    <a:gs pos="0">
                      <a:srgbClr val="7B65FF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gency FB" panose="020B0503020202020204" pitchFamily="34" charset="0"/>
              </a:endParaRPr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95882" y="4870344"/>
              <a:ext cx="882243" cy="882243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 trans="51000" brushSize="6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79773" y="4388696"/>
              <a:ext cx="752719" cy="752719"/>
            </a:xfrm>
            <a:prstGeom prst="rect">
              <a:avLst/>
            </a:prstGeom>
            <a:noFill/>
            <a:ln>
              <a:noFill/>
            </a:ln>
            <a:effectLst>
              <a:glow rad="127000">
                <a:schemeClr val="accent1">
                  <a:alpha val="0"/>
                </a:schemeClr>
              </a:glow>
              <a:softEdge rad="0"/>
            </a:effectLst>
          </p:spPr>
        </p:pic>
        <p:sp>
          <p:nvSpPr>
            <p:cNvPr id="4" name="Rectangle 3"/>
            <p:cNvSpPr/>
            <p:nvPr/>
          </p:nvSpPr>
          <p:spPr>
            <a:xfrm>
              <a:off x="1888882" y="442173"/>
              <a:ext cx="147739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b="1" i="0" dirty="0" smtClean="0">
                  <a:solidFill>
                    <a:schemeClr val="bg1"/>
                  </a:solidFill>
                  <a:effectLst/>
                  <a:cs typeface="Arial" panose="020B0604020202020204" pitchFamily="34" charset="0"/>
                </a:rPr>
                <a:t>Capstone Project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631571" y="2946004"/>
              <a:ext cx="4430096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i="0" dirty="0" smtClean="0">
                  <a:solidFill>
                    <a:schemeClr val="bg1">
                      <a:lumMod val="85000"/>
                    </a:schemeClr>
                  </a:solidFill>
                  <a:effectLst/>
                  <a:latin typeface="+mj-lt"/>
                  <a:cs typeface="Arial" panose="020B0604020202020204" pitchFamily="34" charset="0"/>
                </a:rPr>
                <a:t>Conversational Product </a:t>
              </a:r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+mj-lt"/>
                  <a:cs typeface="Arial" panose="020B0604020202020204" pitchFamily="34" charset="0"/>
                </a:rPr>
                <a:t>D</a:t>
              </a:r>
              <a:r>
                <a:rPr lang="en-US" i="0" dirty="0" smtClean="0">
                  <a:solidFill>
                    <a:schemeClr val="bg1">
                      <a:lumMod val="85000"/>
                    </a:schemeClr>
                  </a:solidFill>
                  <a:effectLst/>
                  <a:latin typeface="+mj-lt"/>
                  <a:cs typeface="Arial" panose="020B0604020202020204" pitchFamily="34" charset="0"/>
                </a:rPr>
                <a:t>iscovery, Multilingual Retrieval &amp; Transparent Billing - Driven by an </a:t>
              </a:r>
              <a:r>
                <a:rPr lang="en-US" b="1" i="0" dirty="0" smtClean="0">
                  <a:solidFill>
                    <a:schemeClr val="bg1"/>
                  </a:solidFill>
                  <a:effectLst/>
                  <a:latin typeface="+mj-lt"/>
                  <a:cs typeface="Arial" panose="020B0604020202020204" pitchFamily="34" charset="0"/>
                </a:rPr>
                <a:t>Agentic, Explainable AI stack.</a:t>
              </a:r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0991" y="5699126"/>
              <a:ext cx="805087" cy="805087"/>
            </a:xfrm>
            <a:prstGeom prst="rect">
              <a:avLst/>
            </a:prstGeom>
          </p:spPr>
        </p:pic>
        <p:sp>
          <p:nvSpPr>
            <p:cNvPr id="12" name="Oval 11"/>
            <p:cNvSpPr/>
            <p:nvPr/>
          </p:nvSpPr>
          <p:spPr>
            <a:xfrm>
              <a:off x="1092086" y="923004"/>
              <a:ext cx="5602980" cy="5602980"/>
            </a:xfrm>
            <a:prstGeom prst="ellipse">
              <a:avLst/>
            </a:prstGeom>
            <a:noFill/>
            <a:ln w="3175">
              <a:gradFill>
                <a:gsLst>
                  <a:gs pos="47000">
                    <a:schemeClr val="accent1">
                      <a:lumMod val="5000"/>
                      <a:lumOff val="95000"/>
                    </a:schemeClr>
                  </a:gs>
                  <a:gs pos="47000">
                    <a:srgbClr val="5027FD"/>
                  </a:gs>
                </a:gsLst>
                <a:lin ang="5400000" scaled="1"/>
              </a:gra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 rot="9000000">
              <a:off x="1313430" y="1144349"/>
              <a:ext cx="5160290" cy="5160290"/>
            </a:xfrm>
            <a:prstGeom prst="ellipse">
              <a:avLst/>
            </a:prstGeom>
            <a:noFill/>
            <a:ln w="3175">
              <a:gradFill>
                <a:gsLst>
                  <a:gs pos="54000">
                    <a:srgbClr val="9999FF"/>
                  </a:gs>
                  <a:gs pos="54000">
                    <a:srgbClr val="5027FD"/>
                  </a:gs>
                </a:gsLst>
                <a:lin ang="5400000" scaled="1"/>
              </a:gra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 rot="19800000">
              <a:off x="1417972" y="1188331"/>
              <a:ext cx="4857294" cy="4857294"/>
            </a:xfrm>
            <a:prstGeom prst="ellipse">
              <a:avLst/>
            </a:prstGeom>
            <a:noFill/>
            <a:ln w="3175">
              <a:gradFill>
                <a:gsLst>
                  <a:gs pos="55000">
                    <a:schemeClr val="accent1">
                      <a:lumMod val="5000"/>
                      <a:lumOff val="95000"/>
                    </a:schemeClr>
                  </a:gs>
                  <a:gs pos="54000">
                    <a:srgbClr val="5027FD"/>
                  </a:gs>
                </a:gsLst>
                <a:lin ang="5400000" scaled="1"/>
              </a:gra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 rot="9000000">
              <a:off x="1511986" y="1368758"/>
              <a:ext cx="4768877" cy="4768877"/>
            </a:xfrm>
            <a:prstGeom prst="ellipse">
              <a:avLst/>
            </a:prstGeom>
            <a:noFill/>
            <a:ln w="3175">
              <a:gradFill>
                <a:gsLst>
                  <a:gs pos="85000">
                    <a:schemeClr val="accent1">
                      <a:lumMod val="5000"/>
                      <a:lumOff val="95000"/>
                    </a:schemeClr>
                  </a:gs>
                  <a:gs pos="79000">
                    <a:srgbClr val="5027FD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 rot="2700000">
              <a:off x="1369020" y="1063030"/>
              <a:ext cx="5353909" cy="5353909"/>
            </a:xfrm>
            <a:prstGeom prst="ellipse">
              <a:avLst/>
            </a:prstGeom>
            <a:noFill/>
            <a:ln w="3175">
              <a:gradFill>
                <a:gsLst>
                  <a:gs pos="44000">
                    <a:srgbClr val="110153"/>
                  </a:gs>
                  <a:gs pos="44000">
                    <a:schemeClr val="bg1"/>
                  </a:gs>
                </a:gsLst>
                <a:lin ang="5400000" scaled="1"/>
              </a:gra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 rot="7200000">
              <a:off x="1147184" y="999204"/>
              <a:ext cx="5602980" cy="5602980"/>
            </a:xfrm>
            <a:prstGeom prst="ellipse">
              <a:avLst/>
            </a:prstGeom>
            <a:noFill/>
            <a:ln w="3175">
              <a:gradFill>
                <a:gsLst>
                  <a:gs pos="42000">
                    <a:schemeClr val="accent1">
                      <a:lumMod val="5000"/>
                      <a:lumOff val="95000"/>
                    </a:schemeClr>
                  </a:gs>
                  <a:gs pos="40000">
                    <a:srgbClr val="2402B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9961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1834" y="1314794"/>
            <a:ext cx="47894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+mj-lt"/>
              </a:rPr>
              <a:t>The world is moving </a:t>
            </a:r>
            <a:r>
              <a:rPr lang="en-US" sz="1600" dirty="0">
                <a:solidFill>
                  <a:schemeClr val="bg1"/>
                </a:solidFill>
              </a:rPr>
              <a:t>to make strategic decisions, enabling them to </a:t>
            </a:r>
            <a:r>
              <a:rPr lang="en-US" sz="1600" dirty="0" smtClean="0">
                <a:solidFill>
                  <a:schemeClr val="bg1"/>
                </a:solidFill>
              </a:rPr>
              <a:t>advance and scale trustworthy </a:t>
            </a:r>
            <a:r>
              <a:rPr lang="en-US" sz="1600" dirty="0">
                <a:solidFill>
                  <a:schemeClr val="bg1"/>
                </a:solidFill>
              </a:rPr>
              <a:t>autonomous operations </a:t>
            </a:r>
            <a:r>
              <a:rPr lang="en-US" sz="1600" dirty="0" smtClean="0">
                <a:solidFill>
                  <a:schemeClr val="bg1"/>
                </a:solidFill>
              </a:rPr>
              <a:t>using </a:t>
            </a:r>
            <a:r>
              <a:rPr lang="en-IN" sz="1600" dirty="0" smtClean="0">
                <a:solidFill>
                  <a:schemeClr val="bg1"/>
                </a:solidFill>
              </a:rPr>
              <a:t>real-time observability. 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Picture 2" descr="Multimodal AI Marke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99" t="4520" r="20803" b="13335"/>
          <a:stretch/>
        </p:blipFill>
        <p:spPr bwMode="auto">
          <a:xfrm>
            <a:off x="283829" y="3643952"/>
            <a:ext cx="3001383" cy="2882113"/>
          </a:xfrm>
          <a:prstGeom prst="roundRect">
            <a:avLst>
              <a:gd name="adj" fmla="val 4368"/>
            </a:avLst>
          </a:prstGeom>
          <a:noFill/>
          <a:effectLst>
            <a:softEdge rad="38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580" y="3583500"/>
            <a:ext cx="4910677" cy="3072068"/>
          </a:xfrm>
          <a:prstGeom prst="roundRect">
            <a:avLst>
              <a:gd name="adj" fmla="val 4683"/>
            </a:avLst>
          </a:prstGeom>
          <a:effectLst>
            <a:softEdge rad="50800"/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4433" y="6262613"/>
            <a:ext cx="1050169" cy="2675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/>
          <a:srcRect b="28342"/>
          <a:stretch/>
        </p:blipFill>
        <p:spPr>
          <a:xfrm>
            <a:off x="5040597" y="3410178"/>
            <a:ext cx="1786642" cy="232357"/>
          </a:xfrm>
          <a:prstGeom prst="roundRect">
            <a:avLst>
              <a:gd name="adj" fmla="val 22223"/>
            </a:avLst>
          </a:prstGeom>
        </p:spPr>
      </p:pic>
      <p:grpSp>
        <p:nvGrpSpPr>
          <p:cNvPr id="16" name="Group 15"/>
          <p:cNvGrpSpPr/>
          <p:nvPr/>
        </p:nvGrpSpPr>
        <p:grpSpPr>
          <a:xfrm>
            <a:off x="5294620" y="1325102"/>
            <a:ext cx="6746227" cy="918841"/>
            <a:chOff x="5294620" y="1325102"/>
            <a:chExt cx="6746227" cy="918841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94620" y="1325102"/>
              <a:ext cx="6746227" cy="918841"/>
            </a:xfrm>
            <a:prstGeom prst="roundRect">
              <a:avLst/>
            </a:prstGeom>
            <a:effectLst>
              <a:softEdge rad="50800"/>
            </a:effectLst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17294" y="1878223"/>
              <a:ext cx="1050169" cy="267568"/>
            </a:xfrm>
            <a:prstGeom prst="rect">
              <a:avLst/>
            </a:prstGeom>
          </p:spPr>
        </p:pic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7359" y="1788831"/>
            <a:ext cx="1962923" cy="1068618"/>
          </a:xfrm>
          <a:prstGeom prst="roundRect">
            <a:avLst/>
          </a:prstGeom>
          <a:effectLst>
            <a:softEdge rad="63500"/>
          </a:effectLst>
        </p:spPr>
      </p:pic>
      <p:sp>
        <p:nvSpPr>
          <p:cNvPr id="19" name="Rectangle 18">
            <a:hlinkClick r:id="rId9"/>
          </p:cNvPr>
          <p:cNvSpPr/>
          <p:nvPr/>
        </p:nvSpPr>
        <p:spPr>
          <a:xfrm>
            <a:off x="8966500" y="894653"/>
            <a:ext cx="30743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 err="1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reflection blurRad="6350" stA="50000" endA="300" endPos="50000" dist="60007" dir="5400000" sy="-100000" algn="bl" rotWithShape="0"/>
                </a:effectLst>
              </a:rPr>
              <a:t>Dynatrace</a:t>
            </a:r>
            <a:r>
              <a:rPr lang="en-IN" sz="1400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reflection blurRad="6350" stA="50000" endA="300" endPos="50000" dist="60007" dir="5400000" sy="-100000" algn="bl" rotWithShape="0"/>
                </a:effectLst>
              </a:rPr>
              <a:t> report of agentic-ai-in-2026</a:t>
            </a:r>
            <a:endParaRPr lang="en-IN" sz="1400" dirty="0">
              <a:solidFill>
                <a:schemeClr val="accent5">
                  <a:lumMod val="20000"/>
                  <a:lumOff val="80000"/>
                </a:schemeClr>
              </a:solidFill>
              <a:effectLst>
                <a:reflection blurRad="6350" stA="50000" endA="300" endPos="5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2459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5376" y="2732296"/>
            <a:ext cx="2041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Problem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Statement</a:t>
            </a:r>
            <a:endParaRPr lang="en-I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5376" y="3288210"/>
            <a:ext cx="79574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+mj-lt"/>
              </a:rPr>
              <a:t>Current commerce assistants operate in silos—treating text, images, and data as isolated inputs. This lack of "multimodal reasoning" leads to inaccurate search results and "black-box" billing that erodes user trust.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455" y="2116760"/>
            <a:ext cx="1083531" cy="1083531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619" y="1890468"/>
            <a:ext cx="1019494" cy="1019494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3381" y="571290"/>
            <a:ext cx="1152074" cy="1152074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58570" y="2635353"/>
            <a:ext cx="520058" cy="5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3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16667E-7 -2.96296E-6 L -0.08659 0.11574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36" y="544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81481E-6 L 0.02565 0.11412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0" y="581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0.04622 -0.0919 " pathEditMode="relative" rAng="0" ptsTypes="AA">
                                      <p:cBhvr>
                                        <p:cTn id="10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5" y="-4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24758" y="1954032"/>
            <a:ext cx="1592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Solution Plan</a:t>
            </a:r>
            <a:endParaRPr lang="en-I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129407" y="2543168"/>
            <a:ext cx="3704884" cy="3555701"/>
          </a:xfrm>
          <a:prstGeom prst="ellipse">
            <a:avLst/>
          </a:prstGeom>
          <a:noFill/>
          <a:ln w="0">
            <a:gradFill>
              <a:gsLst>
                <a:gs pos="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976" y="2691716"/>
            <a:ext cx="996981" cy="956836"/>
          </a:xfrm>
          <a:prstGeom prst="rect">
            <a:avLst/>
          </a:prstGeom>
          <a:effectLst/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174" y="4085190"/>
            <a:ext cx="1119450" cy="1074374"/>
          </a:xfrm>
          <a:prstGeom prst="rect">
            <a:avLst/>
          </a:prstGeom>
          <a:effectLst/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957" y="4109440"/>
            <a:ext cx="1094182" cy="1050123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24758" y="2565916"/>
            <a:ext cx="7080083" cy="2879542"/>
          </a:xfrm>
          <a:prstGeom prst="roundRect">
            <a:avLst>
              <a:gd name="adj" fmla="val 4490"/>
            </a:avLst>
          </a:prstGeom>
          <a:noFill/>
          <a:ln w="254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3000">
                  <a:srgbClr val="2302AE"/>
                </a:gs>
              </a:gsLst>
              <a:lin ang="2700000" scaled="1"/>
              <a:tileRect/>
            </a:gra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The </a:t>
            </a:r>
            <a:r>
              <a:rPr lang="en-US" sz="16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Agentic Multimodal Commerce Platform</a:t>
            </a:r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 is a research and engineering initiative that lets shoppers find products and complete checkout-style flows using </a:t>
            </a:r>
            <a:r>
              <a:rPr lang="en-US" sz="16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natural language</a:t>
            </a:r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 (including multiple languages) and</a:t>
            </a:r>
            <a:r>
              <a:rPr lang="en-US" sz="16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 product images</a:t>
            </a:r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, not just keyword search.</a:t>
            </a:r>
          </a:p>
          <a:p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Today’s commerce assistants often treat text and images in isolation, treat OCR as plain text without product semantics, and automate billing without enough transparency. This project builds a </a:t>
            </a:r>
            <a:r>
              <a:rPr lang="en-US" sz="16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single conversational system </a:t>
            </a:r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that reasons across modalities, adapts its workflow dynamically, and </a:t>
            </a:r>
            <a:r>
              <a:rPr lang="en-US" sz="16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explains</a:t>
            </a:r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 what it matched and why—so it can be taken seriously in real retail and e-commerce settings.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42918" y="1712030"/>
            <a:ext cx="642112" cy="64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1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accel="16000" decel="1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1.48148E-6 C 0.05547 1.48148E-6 0.10078 0.08125 0.10078 0.18241 C 0.10078 0.28356 0.05547 0.36597 1.875E-6 0.36597 C -0.05573 0.36597 -0.10065 0.28356 -0.10065 0.18241 C -0.10065 0.08125 -0.05573 1.48148E-6 1.875E-6 1.48148E-6 Z " pathEditMode="relative" rAng="0" ptsTypes="AAAAA">
                                      <p:cBhvr>
                                        <p:cTn id="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28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repeatCount="indefinite" accel="16000" decel="1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28 -0.00162 C 0.00664 0.09561 -0.04622 0.16042 -0.10091 0.14329 C -0.15833 0.1257 -0.19609 0.03195 -0.18645 -0.06504 C -0.17682 -0.16273 -0.1233 -0.22708 -0.06731 -0.20949 C -0.01106 -0.19189 0.02592 -0.09907 0.01628 -0.00162 Z " pathEditMode="relative" rAng="6000000" ptsTypes="AAAAA">
                                      <p:cBhvr>
                                        <p:cTn id="8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30" y="-317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repeatCount="indefinite" accel="16000" decel="1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8 -0.00393 C -0.02161 -0.10162 0.01745 -0.19236 0.07253 -0.20625 C 0.13008 -0.22083 0.1823 -0.15254 0.18998 -0.05486 C 0.19779 0.04329 0.15808 0.1338 0.10183 0.14792 C 0.04519 0.16204 -0.00612 0.09422 -0.0138 -0.00393 Z " pathEditMode="relative" rAng="15720000" ptsTypes="AAAAA">
                                      <p:cBhvr>
                                        <p:cTn id="1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82" y="-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09372" y="1235325"/>
            <a:ext cx="80118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This project is built on an agentic architecture featuring dynamic routing that is explainable, multilingual, and safe by design—aligned with production-grade AI deployment in e-commerce.</a:t>
            </a:r>
            <a:endParaRPr lang="en-IN" sz="16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2754" y="2596600"/>
            <a:ext cx="2136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Issues We Tried To Solve</a:t>
            </a:r>
            <a:endParaRPr lang="en-I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291080"/>
              </p:ext>
            </p:extLst>
          </p:nvPr>
        </p:nvGraphicFramePr>
        <p:xfrm>
          <a:off x="225083" y="3178405"/>
          <a:ext cx="5825668" cy="23341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25668"/>
              </a:tblGrid>
              <a:tr h="43304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</a:rPr>
                        <a:t>Discovery is text-only or image-only, rarely both in one flow</a:t>
                      </a:r>
                    </a:p>
                  </a:txBody>
                  <a:tcPr marL="123825" marR="123825" marT="57150" marB="57150" anchor="ctr"/>
                </a:tc>
              </a:tr>
              <a:tr h="590342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bg1"/>
                          </a:solidFill>
                          <a:effectLst/>
                        </a:rPr>
                        <a:t>Image based Product  recommendation,</a:t>
                      </a:r>
                      <a:r>
                        <a:rPr lang="en-US" sz="1600" b="0" baseline="0" dirty="0" smtClean="0">
                          <a:solidFill>
                            <a:schemeClr val="bg1"/>
                          </a:solidFill>
                          <a:effectLst/>
                        </a:rPr>
                        <a:t> Customer behavioral patterns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</a:tr>
              <a:tr h="433042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Weak multilingual support</a:t>
                      </a:r>
                    </a:p>
                  </a:txBody>
                  <a:tcPr marL="123825" marR="123825" marT="57150" marB="57150" anchor="ctr"/>
                </a:tc>
              </a:tr>
              <a:tr h="433042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bg1"/>
                          </a:solidFill>
                          <a:effectLst/>
                        </a:rPr>
                        <a:t>Automated Billing lifecycle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</a:tr>
              <a:tr h="433042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Brittle, linear AI pipelines</a:t>
                      </a:r>
                    </a:p>
                  </a:txBody>
                  <a:tcPr marL="123825" marR="123825" marT="57150" marB="57150"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109492"/>
              </p:ext>
            </p:extLst>
          </p:nvPr>
        </p:nvGraphicFramePr>
        <p:xfrm>
          <a:off x="6096001" y="3129245"/>
          <a:ext cx="5875606" cy="249252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75606"/>
              </a:tblGrid>
              <a:tr h="510802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Unified chat 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</a:rPr>
                        <a:t>+ image upload with orchestrated multimodal retrieval</a:t>
                      </a:r>
                    </a:p>
                  </a:txBody>
                  <a:tcPr marL="123825" marR="123825" marT="57150" marB="57150" anchor="ctr"/>
                </a:tc>
              </a:tr>
              <a:tr h="510802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  <a:effectLst/>
                        </a:rPr>
                        <a:t>CNN models</a:t>
                      </a:r>
                      <a:r>
                        <a:rPr lang="en-US" sz="1600" b="0" dirty="0" smtClean="0">
                          <a:solidFill>
                            <a:schemeClr val="bg1"/>
                          </a:solidFill>
                          <a:effectLst/>
                        </a:rPr>
                        <a:t> used to recommend similar items based on users</a:t>
                      </a:r>
                      <a:r>
                        <a:rPr lang="en-US" sz="1600" b="0" baseline="0" dirty="0" smtClean="0">
                          <a:solidFill>
                            <a:schemeClr val="bg1"/>
                          </a:solidFill>
                          <a:effectLst/>
                        </a:rPr>
                        <a:t> text &amp; Image queries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</a:tr>
              <a:tr h="510802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  <a:effectLst/>
                        </a:rPr>
                        <a:t>Translator</a:t>
                      </a:r>
                      <a:r>
                        <a:rPr lang="en-US" sz="1600" b="1" baseline="0" dirty="0" smtClean="0">
                          <a:solidFill>
                            <a:schemeClr val="bg1"/>
                          </a:solidFill>
                          <a:effectLst/>
                        </a:rPr>
                        <a:t> Agent </a:t>
                      </a:r>
                      <a:r>
                        <a:rPr lang="en-US" sz="1600" b="0" dirty="0" smtClean="0">
                          <a:solidFill>
                            <a:schemeClr val="bg1"/>
                          </a:solidFill>
                          <a:effectLst/>
                        </a:rPr>
                        <a:t>with 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</a:rPr>
                        <a:t>multilingual </a:t>
                      </a:r>
                      <a:r>
                        <a:rPr lang="en-US" sz="1600" b="0" dirty="0" smtClean="0">
                          <a:solidFill>
                            <a:schemeClr val="bg1"/>
                          </a:solidFill>
                          <a:effectLst/>
                        </a:rPr>
                        <a:t>support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</a:tr>
              <a:tr h="29943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Billing &amp; </a:t>
                      </a:r>
                      <a:r>
                        <a:rPr lang="en-US" sz="1600" b="1" dirty="0" smtClean="0">
                          <a:solidFill>
                            <a:schemeClr val="bg1"/>
                          </a:solidFill>
                          <a:effectLst/>
                        </a:rPr>
                        <a:t>Explanation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r>
                        <a:rPr lang="en-US" sz="1600" b="1" dirty="0" smtClean="0">
                          <a:solidFill>
                            <a:schemeClr val="bg1"/>
                          </a:solidFill>
                          <a:effectLst/>
                        </a:rPr>
                        <a:t>Agents 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</a:rPr>
                        <a:t>with RAG-backed rationale</a:t>
                      </a:r>
                    </a:p>
                  </a:txBody>
                  <a:tcPr marL="123825" marR="123825" marT="57150" marB="57150" anchor="ctr"/>
                </a:tc>
              </a:tr>
              <a:tr h="510802">
                <a:tc>
                  <a:txBody>
                    <a:bodyPr/>
                    <a:lstStyle/>
                    <a:p>
                      <a:r>
                        <a:rPr lang="en-IN" sz="1600" b="0" dirty="0" smtClean="0">
                          <a:solidFill>
                            <a:schemeClr val="bg1"/>
                          </a:solidFill>
                          <a:effectLst/>
                        </a:rPr>
                        <a:t>Explicit </a:t>
                      </a: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nodes, edges, conditions, retries, and </a:t>
                      </a:r>
                      <a:r>
                        <a:rPr lang="en-IN" sz="1600" b="0" dirty="0" smtClean="0">
                          <a:solidFill>
                            <a:schemeClr val="bg1"/>
                          </a:solidFill>
                          <a:effectLst/>
                        </a:rPr>
                        <a:t>fall backs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51072" y="2596600"/>
            <a:ext cx="15496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By Implementing</a:t>
            </a:r>
            <a:endParaRPr lang="en-I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4956" y="2460326"/>
            <a:ext cx="560753" cy="560753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9832648" y="2433063"/>
            <a:ext cx="896748" cy="665627"/>
            <a:chOff x="10311618" y="2240456"/>
            <a:chExt cx="1364567" cy="1012874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1304502">
              <a:off x="10311618" y="2504049"/>
              <a:ext cx="618979" cy="618979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 contrast="76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1393860">
              <a:off x="10663311" y="2240456"/>
              <a:ext cx="1012874" cy="10128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159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repeatCount="indefinite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18720" y="2352695"/>
            <a:ext cx="11049168" cy="3859419"/>
          </a:xfrm>
          <a:prstGeom prst="roundRect">
            <a:avLst>
              <a:gd name="adj" fmla="val 4490"/>
            </a:avLst>
          </a:prstGeom>
          <a:noFill/>
          <a:ln w="254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3000">
                  <a:srgbClr val="2302AE"/>
                </a:gs>
              </a:gsLst>
              <a:lin ang="2700000" scaled="1"/>
              <a:tileRect/>
            </a:gra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776" y="1776214"/>
            <a:ext cx="261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 Stacks &amp; Application</a:t>
            </a:r>
            <a:endParaRPr lang="en-I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961902"/>
              </p:ext>
            </p:extLst>
          </p:nvPr>
        </p:nvGraphicFramePr>
        <p:xfrm>
          <a:off x="744593" y="2422856"/>
          <a:ext cx="10721693" cy="37109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73913"/>
                <a:gridCol w="8247780"/>
              </a:tblGrid>
              <a:tr h="325377">
                <a:tc>
                  <a:txBody>
                    <a:bodyPr/>
                    <a:lstStyle/>
                    <a:p>
                      <a:r>
                        <a:rPr lang="en-IN" sz="1600" b="1" dirty="0" err="1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Streamlit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Conversational UI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: chat, image upload, streaming responses, confirmation controls</a:t>
                      </a:r>
                    </a:p>
                  </a:txBody>
                  <a:tcPr marL="123825" marR="123825" marT="57150" marB="57150" anchor="ctr"/>
                </a:tc>
              </a:tr>
              <a:tr h="325377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LangGraph runtime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IN" sz="16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LangGraph </a:t>
                      </a:r>
                      <a:r>
                        <a:rPr lang="en-US" sz="1600" b="1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States</a:t>
                      </a:r>
                      <a:r>
                        <a:rPr lang="en-US" sz="1600" baseline="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 used as </a:t>
                      </a:r>
                      <a:r>
                        <a:rPr lang="en-US" sz="1600" kern="1200" baseline="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central memory for agentic workflows to direct </a:t>
                      </a:r>
                      <a:r>
                        <a:rPr lang="en-US" sz="1600" baseline="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different Agent actions (Billing, Cancellation, Refund Support)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23825" marR="123825" marT="57150" marB="57150" anchor="ctr"/>
                </a:tc>
              </a:tr>
              <a:tr h="547620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Agent layer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Pluggable agents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: conversation manager, guardrails, intent, retrieval, </a:t>
                      </a:r>
                      <a:r>
                        <a:rPr lang="en-IN" sz="160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vision,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translation, billing, explanation</a:t>
                      </a:r>
                    </a:p>
                  </a:txBody>
                  <a:tcPr marL="123825" marR="123825" marT="57150" marB="57150" anchor="ctr"/>
                </a:tc>
              </a:tr>
              <a:tr h="325377">
                <a:tc>
                  <a:txBody>
                    <a:bodyPr/>
                    <a:lstStyle/>
                    <a:p>
                      <a:r>
                        <a:rPr lang="en-IN" sz="1600" b="1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FalkorDB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Vector store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for multimodal RAG (text, </a:t>
                      </a:r>
                      <a:r>
                        <a:rPr lang="en-US" sz="160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image), Automated Billing</a:t>
                      </a:r>
                      <a:r>
                        <a:rPr lang="en-US" sz="1600" baseline="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Ingestion &amp; Status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23825" marR="123825" marT="57150" marB="57150" anchor="ctr"/>
                </a:tc>
              </a:tr>
              <a:tr h="325377">
                <a:tc>
                  <a:txBody>
                    <a:bodyPr/>
                    <a:lstStyle/>
                    <a:p>
                      <a:r>
                        <a:rPr lang="en-IN" sz="1600" b="1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Config</a:t>
                      </a: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/ prompts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Model endpoints, thresholds, safety rules, and prompt templates</a:t>
                      </a:r>
                    </a:p>
                  </a:txBody>
                  <a:tcPr marL="123825" marR="123825" marT="57150" marB="57150" anchor="ctr"/>
                </a:tc>
              </a:tr>
              <a:tr h="325377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Tests &amp; </a:t>
                      </a:r>
                      <a:r>
                        <a:rPr lang="en-IN" sz="1600" b="1" dirty="0" err="1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eval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Similarity scores </a:t>
                      </a:r>
                      <a:r>
                        <a:rPr lang="en-US" sz="160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(Cosine), </a:t>
                      </a:r>
                      <a:r>
                        <a:rPr lang="en-US" sz="1600" b="1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Agent Task</a:t>
                      </a:r>
                      <a:r>
                        <a:rPr lang="en-US" sz="1600" b="1" baseline="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Success Ratio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23825" marR="123825" marT="57150" marB="57150" anchor="ctr"/>
                </a:tc>
              </a:tr>
              <a:tr h="325377">
                <a:tc>
                  <a:txBody>
                    <a:bodyPr/>
                    <a:lstStyle/>
                    <a:p>
                      <a:r>
                        <a:rPr lang="en-IN" sz="1600" b="1" i="0" kern="120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LLMs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IN" sz="16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OpenAI</a:t>
                      </a:r>
                      <a:r>
                        <a:rPr lang="en-IN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(gpt-4)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23825" marR="123825" marT="57150" marB="57150" anchor="ctr"/>
                </a:tc>
              </a:tr>
              <a:tr h="325377">
                <a:tc>
                  <a:txBody>
                    <a:bodyPr/>
                    <a:lstStyle/>
                    <a:p>
                      <a:r>
                        <a:rPr lang="en-IN" sz="1600" b="1" i="0" kern="120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Text embeddings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IN" sz="1600" b="1" i="0" kern="120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Sentence-Transformers</a:t>
                      </a:r>
                      <a:r>
                        <a:rPr lang="en-IN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BGE, Instructor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23825" marR="123825" marT="57150" marB="57150" anchor="ctr"/>
                </a:tc>
              </a:tr>
              <a:tr h="325377">
                <a:tc>
                  <a:txBody>
                    <a:bodyPr/>
                    <a:lstStyle/>
                    <a:p>
                      <a:r>
                        <a:rPr lang="en-IN" sz="1600" b="1" i="0" kern="120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Image embeddings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IN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ReNet50/</a:t>
                      </a:r>
                      <a:r>
                        <a:rPr lang="en-IN" sz="16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TorchVision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23825" marR="123825" marT="57150" marB="57150" anchor="ctr"/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77142" y="1639222"/>
            <a:ext cx="643316" cy="64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54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049" y="2307101"/>
            <a:ext cx="1396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Logical 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Components</a:t>
            </a:r>
            <a:endParaRPr lang="en-I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995798684"/>
              </p:ext>
            </p:extLst>
          </p:nvPr>
        </p:nvGraphicFramePr>
        <p:xfrm>
          <a:off x="1924365" y="1733549"/>
          <a:ext cx="9958283" cy="4028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6845" y="2953432"/>
            <a:ext cx="1294227" cy="129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8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 tmFilter="0, 0; .2, .5; .8, .5; 1, 0"/>
                                        <p:tgtEl>
                                          <p:spTgt spid="5">
                                            <p:graphicEl>
                                              <a:dgm id="{A8338CAE-5863-4503-9231-5E062159E8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500" autoRev="1" fill="hold"/>
                                        <p:tgtEl>
                                          <p:spTgt spid="5">
                                            <p:graphicEl>
                                              <a:dgm id="{A8338CAE-5863-4503-9231-5E062159E815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 tmFilter="0, 0; .2, .5; .8, .5; 1, 0"/>
                                        <p:tgtEl>
                                          <p:spTgt spid="5">
                                            <p:graphicEl>
                                              <a:dgm id="{785199EB-A019-42EA-AED3-5370F17D6E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500" autoRev="1" fill="hold"/>
                                        <p:tgtEl>
                                          <p:spTgt spid="5">
                                            <p:graphicEl>
                                              <a:dgm id="{785199EB-A019-42EA-AED3-5370F17D6E6B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 tmFilter="0, 0; .2, .5; .8, .5; 1, 0"/>
                                        <p:tgtEl>
                                          <p:spTgt spid="5">
                                            <p:graphicEl>
                                              <a:dgm id="{7A52CE41-1C76-4DDB-9B6A-F151AF807A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500" autoRev="1" fill="hold"/>
                                        <p:tgtEl>
                                          <p:spTgt spid="5">
                                            <p:graphicEl>
                                              <a:dgm id="{7A52CE41-1C76-4DDB-9B6A-F151AF807A19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 tmFilter="0, 0; .2, .5; .8, .5; 1, 0"/>
                                        <p:tgtEl>
                                          <p:spTgt spid="5">
                                            <p:graphicEl>
                                              <a:dgm id="{9A022A7E-30C7-4324-A487-D63532D28F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500" autoRev="1" fill="hold"/>
                                        <p:tgtEl>
                                          <p:spTgt spid="5">
                                            <p:graphicEl>
                                              <a:dgm id="{9A022A7E-30C7-4324-A487-D63532D28F2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 tmFilter="0, 0; .2, .5; .8, .5; 1, 0"/>
                                        <p:tgtEl>
                                          <p:spTgt spid="5">
                                            <p:graphicEl>
                                              <a:dgm id="{373BFA4C-E940-4F1A-808B-F27F0B4407A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500" autoRev="1" fill="hold"/>
                                        <p:tgtEl>
                                          <p:spTgt spid="5">
                                            <p:graphicEl>
                                              <a:dgm id="{373BFA4C-E940-4F1A-808B-F27F0B4407A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 tmFilter="0, 0; .2, .5; .8, .5; 1, 0"/>
                                        <p:tgtEl>
                                          <p:spTgt spid="5">
                                            <p:graphicEl>
                                              <a:dgm id="{83402992-9AFA-4E61-9082-6165B91873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500" autoRev="1" fill="hold"/>
                                        <p:tgtEl>
                                          <p:spTgt spid="5">
                                            <p:graphicEl>
                                              <a:dgm id="{83402992-9AFA-4E61-9082-6165B918734B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82853" y="1237957"/>
            <a:ext cx="313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Agents &amp;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heir Responsibilities</a:t>
            </a:r>
            <a:endParaRPr lang="en-I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904301"/>
              </p:ext>
            </p:extLst>
          </p:nvPr>
        </p:nvGraphicFramePr>
        <p:xfrm>
          <a:off x="1103086" y="2188163"/>
          <a:ext cx="10786740" cy="41545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40000"/>
                <a:gridCol w="8246740"/>
              </a:tblGrid>
              <a:tr h="688253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Conversation Manager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Session state, intent (text </a:t>
                      </a:r>
                      <a:r>
                        <a:rPr lang="en-IN" sz="1600" b="0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vs</a:t>
                      </a: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image path), LangGraph route selection</a:t>
                      </a:r>
                    </a:p>
                  </a:txBody>
                  <a:tcPr marL="105322" marR="105322" marT="48610" marB="48610" anchor="ctr"/>
                </a:tc>
              </a:tr>
              <a:tr h="569814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Guardrails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Validate inputs; enforce product/policy rules; confidence thresholds for automation</a:t>
                      </a:r>
                    </a:p>
                  </a:txBody>
                  <a:tcPr marL="105322" marR="105322" marT="48610" marB="48610" anchor="ctr"/>
                </a:tc>
              </a:tr>
              <a:tr h="569814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Intent classifier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Distinguish text query </a:t>
                      </a:r>
                      <a:r>
                        <a:rPr lang="en-US" sz="1600" b="0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vs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image scan and downstream branches</a:t>
                      </a:r>
                    </a:p>
                  </a:txBody>
                  <a:tcPr marL="105322" marR="105322" marT="48610" marB="48610" anchor="ctr"/>
                </a:tc>
              </a:tr>
              <a:tr h="569814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Text retrieval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Multilingual query embedding; semantic search in </a:t>
                      </a:r>
                      <a:r>
                        <a:rPr lang="en-US" sz="1600" b="0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FalkorDB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; ranked candidates</a:t>
                      </a:r>
                    </a:p>
                  </a:txBody>
                  <a:tcPr marL="105322" marR="105322" marT="48610" marB="48610" anchor="ctr"/>
                </a:tc>
              </a:tr>
              <a:tr h="395690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Vision search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Image embedding; similarity search in </a:t>
                      </a:r>
                      <a:r>
                        <a:rPr lang="en-US" sz="1600" b="0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FalkorDB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05322" marR="105322" marT="48610" marB="48610" anchor="ctr"/>
                </a:tc>
              </a:tr>
              <a:tr h="569814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Translation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Normalize text to a canonical language for search and responses</a:t>
                      </a:r>
                    </a:p>
                  </a:txBody>
                  <a:tcPr marL="105322" marR="105322" marT="48610" marB="48610" anchor="ctr"/>
                </a:tc>
              </a:tr>
              <a:tr h="395690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Billing &amp; validation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Price, tax, discount; invoice generation</a:t>
                      </a:r>
                    </a:p>
                  </a:txBody>
                  <a:tcPr marL="105322" marR="105322" marT="48610" marB="48610" anchor="ctr"/>
                </a:tc>
              </a:tr>
              <a:tr h="395690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Explanation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Use RAG context to justify decisions to the user</a:t>
                      </a:r>
                    </a:p>
                  </a:txBody>
                  <a:tcPr marL="105322" marR="105322" marT="48610" marB="48610" anchor="ctr"/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2068" y="2420019"/>
            <a:ext cx="339312" cy="3393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2068" y="2977453"/>
            <a:ext cx="349080" cy="390855"/>
          </a:xfrm>
          <a:prstGeom prst="rect">
            <a:avLst/>
          </a:prstGeom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0293" y="3499950"/>
            <a:ext cx="412762" cy="412762"/>
          </a:xfrm>
          <a:prstGeom prst="rect">
            <a:avLst/>
          </a:prstGeom>
          <a:effectLst/>
        </p:spPr>
      </p:pic>
      <p:grpSp>
        <p:nvGrpSpPr>
          <p:cNvPr id="19" name="Group 18"/>
          <p:cNvGrpSpPr/>
          <p:nvPr/>
        </p:nvGrpSpPr>
        <p:grpSpPr>
          <a:xfrm>
            <a:off x="296042" y="4130834"/>
            <a:ext cx="445640" cy="284993"/>
            <a:chOff x="217321" y="3963576"/>
            <a:chExt cx="600365" cy="34115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07647" y="3979134"/>
              <a:ext cx="310039" cy="310039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400000">
              <a:off x="217321" y="3963576"/>
              <a:ext cx="341156" cy="341156"/>
            </a:xfrm>
            <a:prstGeom prst="rect">
              <a:avLst/>
            </a:prstGeom>
          </p:spPr>
        </p:pic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275" y="4595282"/>
            <a:ext cx="347174" cy="347174"/>
          </a:xfrm>
          <a:prstGeom prst="rect">
            <a:avLst/>
          </a:prstGeom>
          <a:effectLst/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2068" y="5116102"/>
            <a:ext cx="290381" cy="290381"/>
          </a:xfrm>
          <a:prstGeom prst="rect">
            <a:avLst/>
          </a:prstGeom>
          <a:effectLst/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4563" y="5998616"/>
            <a:ext cx="284221" cy="284221"/>
          </a:xfrm>
          <a:prstGeom prst="rect">
            <a:avLst/>
          </a:prstGeom>
          <a:effectLst/>
        </p:spPr>
      </p:pic>
      <p:grpSp>
        <p:nvGrpSpPr>
          <p:cNvPr id="2" name="Group 1"/>
          <p:cNvGrpSpPr/>
          <p:nvPr/>
        </p:nvGrpSpPr>
        <p:grpSpPr>
          <a:xfrm>
            <a:off x="402068" y="5482761"/>
            <a:ext cx="391725" cy="432225"/>
            <a:chOff x="352282" y="5447196"/>
            <a:chExt cx="449514" cy="495989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52282" y="5609966"/>
              <a:ext cx="333219" cy="333219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20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9096" y="5447196"/>
              <a:ext cx="272700" cy="2727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313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76775" y="2318382"/>
            <a:ext cx="11020139" cy="1727139"/>
          </a:xfrm>
          <a:prstGeom prst="roundRect">
            <a:avLst>
              <a:gd name="adj" fmla="val 4490"/>
            </a:avLst>
          </a:prstGeom>
          <a:noFill/>
          <a:ln w="254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3000">
                  <a:srgbClr val="2302AE"/>
                </a:gs>
              </a:gsLst>
              <a:lin ang="2700000" scaled="1"/>
              <a:tileRect/>
            </a:gra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Retail &amp; e-commerce teams prototyping conversational and multimodal search without vendor lock-in.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Global or multilingual catalogs where queries and product copy mix languages.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Operations that need auditable steps: why a SKU was chosen, what confidence was, and what the user confirmed.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Research and coursework (IITR) demonstrating modern RAG, agents, and graph-based orchestration on realistic commerce scenarios.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775" y="1774656"/>
            <a:ext cx="101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Use case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9794" y="1716402"/>
            <a:ext cx="411235" cy="4275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775" y="4543607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USP</a:t>
            </a:r>
            <a:endParaRPr lang="en-I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6776" y="4998023"/>
            <a:ext cx="11020138" cy="1264232"/>
          </a:xfrm>
          <a:prstGeom prst="roundRect">
            <a:avLst>
              <a:gd name="adj" fmla="val 4490"/>
            </a:avLst>
          </a:prstGeom>
          <a:noFill/>
          <a:ln w="254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3000">
                  <a:srgbClr val="2302AE"/>
                </a:gs>
              </a:gsLst>
              <a:lin ang="2700000" scaled="1"/>
              <a:tileRect/>
            </a:gra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Faster checkout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Reduced manual intervention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Multilingual global 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Enterprise-grade trust and safety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4559" y="4372318"/>
            <a:ext cx="505235" cy="50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0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76776" y="1980001"/>
            <a:ext cx="1252024" cy="706928"/>
          </a:xfrm>
          <a:prstGeom prst="roundRect">
            <a:avLst>
              <a:gd name="adj" fmla="val 6174"/>
            </a:avLst>
          </a:prstGeom>
          <a:noFill/>
          <a:ln w="25400">
            <a:gradFill flip="none" rotWithShape="1">
              <a:gsLst>
                <a:gs pos="0">
                  <a:schemeClr val="accent1">
                    <a:lumMod val="11000"/>
                    <a:lumOff val="89000"/>
                  </a:schemeClr>
                </a:gs>
                <a:gs pos="63000">
                  <a:srgbClr val="2302AE"/>
                </a:gs>
              </a:gsLst>
              <a:lin ang="2700000" scaled="1"/>
              <a:tileRect/>
            </a:gra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Input</a:t>
            </a:r>
            <a:endParaRPr lang="en-US" sz="1600" b="1" dirty="0" smtClean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pPr algn="ctr"/>
            <a:r>
              <a:rPr lang="en-US" sz="1400" b="1" dirty="0" smtClean="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Text/Image</a:t>
            </a:r>
            <a:endParaRPr lang="en-US" sz="1400" b="1" dirty="0">
              <a:solidFill>
                <a:schemeClr val="bg1">
                  <a:lumMod val="8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050" name="Picture 2" descr="Streamlit SVG and transparent PNG icons | TechIcon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8000" l="0" r="99556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892" b="15125"/>
          <a:stretch/>
        </p:blipFill>
        <p:spPr bwMode="auto">
          <a:xfrm>
            <a:off x="928130" y="2926083"/>
            <a:ext cx="549316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2980007" y="1980001"/>
            <a:ext cx="1252024" cy="706928"/>
          </a:xfrm>
          <a:prstGeom prst="roundRect">
            <a:avLst>
              <a:gd name="adj" fmla="val 6174"/>
            </a:avLst>
          </a:prstGeom>
          <a:noFill/>
          <a:ln w="25400">
            <a:gradFill flip="none" rotWithShape="1">
              <a:gsLst>
                <a:gs pos="0">
                  <a:schemeClr val="accent1">
                    <a:lumMod val="11000"/>
                    <a:lumOff val="89000"/>
                  </a:schemeClr>
                </a:gs>
                <a:gs pos="63000">
                  <a:srgbClr val="2302AE"/>
                </a:gs>
              </a:gsLst>
              <a:lin ang="2700000" scaled="1"/>
              <a:tileRect/>
            </a:gra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Resnet50</a:t>
            </a:r>
            <a:endParaRPr lang="en-US" sz="1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383238" y="1980001"/>
            <a:ext cx="1252024" cy="706928"/>
          </a:xfrm>
          <a:prstGeom prst="roundRect">
            <a:avLst>
              <a:gd name="adj" fmla="val 6174"/>
            </a:avLst>
          </a:prstGeom>
          <a:noFill/>
          <a:ln w="25400">
            <a:gradFill flip="none" rotWithShape="1">
              <a:gsLst>
                <a:gs pos="0">
                  <a:schemeClr val="accent1">
                    <a:lumMod val="11000"/>
                    <a:lumOff val="89000"/>
                  </a:schemeClr>
                </a:gs>
                <a:gs pos="63000">
                  <a:srgbClr val="2302AE"/>
                </a:gs>
              </a:gsLst>
              <a:lin ang="2700000" scaled="1"/>
              <a:tileRect/>
            </a:gra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Falkor</a:t>
            </a:r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DB</a:t>
            </a:r>
            <a:endParaRPr lang="en-US" sz="1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86469" y="1980001"/>
            <a:ext cx="1252024" cy="706928"/>
          </a:xfrm>
          <a:prstGeom prst="roundRect">
            <a:avLst>
              <a:gd name="adj" fmla="val 6174"/>
            </a:avLst>
          </a:prstGeom>
          <a:noFill/>
          <a:ln w="25400">
            <a:gradFill flip="none" rotWithShape="1">
              <a:gsLst>
                <a:gs pos="0">
                  <a:schemeClr val="accent1">
                    <a:lumMod val="11000"/>
                    <a:lumOff val="89000"/>
                  </a:schemeClr>
                </a:gs>
                <a:gs pos="63000">
                  <a:srgbClr val="2302AE"/>
                </a:gs>
              </a:gsLst>
              <a:lin ang="2700000" scaled="1"/>
              <a:tileRect/>
            </a:gra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Chatbot</a:t>
            </a:r>
            <a:endParaRPr lang="en-US" sz="1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189700" y="1980001"/>
            <a:ext cx="1252024" cy="706928"/>
          </a:xfrm>
          <a:prstGeom prst="roundRect">
            <a:avLst>
              <a:gd name="adj" fmla="val 6174"/>
            </a:avLst>
          </a:prstGeom>
          <a:noFill/>
          <a:ln w="25400">
            <a:gradFill flip="none" rotWithShape="1">
              <a:gsLst>
                <a:gs pos="0">
                  <a:schemeClr val="accent1">
                    <a:lumMod val="11000"/>
                    <a:lumOff val="89000"/>
                  </a:schemeClr>
                </a:gs>
                <a:gs pos="63000">
                  <a:srgbClr val="2302AE"/>
                </a:gs>
              </a:gsLst>
              <a:lin ang="2700000" scaled="1"/>
              <a:tileRect/>
            </a:gra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Prompt</a:t>
            </a:r>
            <a:endParaRPr lang="en-US" sz="1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89700" y="4751341"/>
            <a:ext cx="1252024" cy="706928"/>
          </a:xfrm>
          <a:prstGeom prst="roundRect">
            <a:avLst>
              <a:gd name="adj" fmla="val 6174"/>
            </a:avLst>
          </a:prstGeom>
          <a:noFill/>
          <a:ln w="25400">
            <a:gradFill flip="none" rotWithShape="1">
              <a:gsLst>
                <a:gs pos="0">
                  <a:schemeClr val="accent1">
                    <a:lumMod val="11000"/>
                    <a:lumOff val="89000"/>
                  </a:schemeClr>
                </a:gs>
                <a:gs pos="63000">
                  <a:srgbClr val="2302AE"/>
                </a:gs>
              </a:gsLst>
              <a:lin ang="2700000" scaled="1"/>
              <a:tileRect/>
            </a:gra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LLM</a:t>
            </a:r>
          </a:p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Routing</a:t>
            </a:r>
            <a:endParaRPr lang="en-US" sz="1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80007" y="1518336"/>
            <a:ext cx="12933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200" dirty="0" smtClean="0">
                <a:solidFill>
                  <a:schemeClr val="bg1"/>
                </a:solidFill>
              </a:rPr>
              <a:t>Product </a:t>
            </a:r>
          </a:p>
          <a:p>
            <a:pPr algn="ctr"/>
            <a:r>
              <a:rPr lang="en-IN" sz="1200" dirty="0" smtClean="0">
                <a:solidFill>
                  <a:schemeClr val="bg1"/>
                </a:solidFill>
              </a:rPr>
              <a:t>Recommendation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099009" y="4301744"/>
            <a:ext cx="1433406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cs typeface="Arial" panose="020B0604020202020204" pitchFamily="34" charset="0"/>
              </a:rPr>
              <a:t>Intent </a:t>
            </a:r>
            <a:r>
              <a:rPr lang="en-US" sz="12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Classifier</a:t>
            </a:r>
          </a:p>
          <a:p>
            <a:pPr algn="ctr"/>
            <a:r>
              <a:rPr lang="en-US" sz="1050" b="1" dirty="0" smtClean="0">
                <a:solidFill>
                  <a:schemeClr val="bg1"/>
                </a:solidFill>
                <a:cs typeface="Arial" panose="020B0604020202020204" pitchFamily="34" charset="0"/>
              </a:rPr>
              <a:t>Confidence Evaluation</a:t>
            </a:r>
            <a:endParaRPr lang="en-US" sz="105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26" name="Picture 2" descr="6,745 Ai Agents Icon Royalty-Free Images, Stock Photos &amp; Pictures |  Shutterstock"/>
          <p:cNvPicPr>
            <a:picLocks noChangeAspect="1" noChangeArrowheads="1"/>
          </p:cNvPicPr>
          <p:nvPr/>
        </p:nvPicPr>
        <p:blipFill rotWithShape="1"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8119" b="75023" l="18983" r="82801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005" t="11006" r="9222" b="17864"/>
          <a:stretch/>
        </p:blipFill>
        <p:spPr bwMode="auto">
          <a:xfrm>
            <a:off x="4983129" y="3867036"/>
            <a:ext cx="2052240" cy="197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base - Free technology icon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512" y="2910608"/>
            <a:ext cx="387475" cy="38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hatbot Icon Bot Sign Design Chat Stock Vector (Royalty Free) 2443035473 |  Shutterstock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682" t="11342" r="6272" b="15868"/>
          <a:stretch/>
        </p:blipFill>
        <p:spPr bwMode="auto">
          <a:xfrm>
            <a:off x="8117059" y="2783997"/>
            <a:ext cx="590843" cy="57827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ompt - Free computer icons"/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1974" y="2783997"/>
            <a:ext cx="465755" cy="46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/>
          <p:cNvSpPr/>
          <p:nvPr/>
        </p:nvSpPr>
        <p:spPr>
          <a:xfrm>
            <a:off x="4307227" y="5715959"/>
            <a:ext cx="37431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200" dirty="0" smtClean="0">
                <a:solidFill>
                  <a:schemeClr val="bg1"/>
                </a:solidFill>
              </a:rPr>
              <a:t>Cancellation / Billing / Translator / Order / Refund Agents</a:t>
            </a:r>
            <a:endParaRPr lang="en-IN" sz="1200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110154" y="2333465"/>
            <a:ext cx="646851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395546" y="2333465"/>
            <a:ext cx="646851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769950" y="2333163"/>
            <a:ext cx="646851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334819" y="2333163"/>
            <a:ext cx="646851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0854851" y="3362269"/>
            <a:ext cx="0" cy="912017"/>
          </a:xfrm>
          <a:prstGeom prst="straightConnector1">
            <a:avLst/>
          </a:prstGeom>
          <a:ln w="25400">
            <a:solidFill>
              <a:schemeClr val="bg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7315200" y="5104805"/>
            <a:ext cx="2524836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1026" idx="0"/>
          </p:cNvCxnSpPr>
          <p:nvPr/>
        </p:nvCxnSpPr>
        <p:spPr>
          <a:xfrm>
            <a:off x="6009249" y="3362269"/>
            <a:ext cx="0" cy="504767"/>
          </a:xfrm>
          <a:prstGeom prst="straightConnector1">
            <a:avLst/>
          </a:prstGeom>
          <a:ln w="25400">
            <a:solidFill>
              <a:schemeClr val="bg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rved Up Arrow 39"/>
          <p:cNvSpPr/>
          <p:nvPr/>
        </p:nvSpPr>
        <p:spPr>
          <a:xfrm rot="2566014" flipV="1">
            <a:off x="8698151" y="1629091"/>
            <a:ext cx="870949" cy="481668"/>
          </a:xfrm>
          <a:prstGeom prst="curvedUpArrow">
            <a:avLst>
              <a:gd name="adj1" fmla="val 17897"/>
              <a:gd name="adj2" fmla="val 81343"/>
              <a:gd name="adj3" fmla="val 42182"/>
            </a:avLst>
          </a:prstGeom>
          <a:solidFill>
            <a:srgbClr val="2F2FFF"/>
          </a:solidFill>
          <a:ln w="25400"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endParaRPr lang="en-IN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577618" y="1292454"/>
            <a:ext cx="12144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200" dirty="0" smtClean="0">
                <a:solidFill>
                  <a:schemeClr val="bg1"/>
                </a:solidFill>
              </a:rPr>
              <a:t>Retry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dirty="0" smtClean="0">
                <a:solidFill>
                  <a:schemeClr val="bg1"/>
                </a:solidFill>
              </a:rPr>
              <a:t>&amp; fall-back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43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repeatCount="indefinite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repeatCount="indefinite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mph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7" dur="3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5642992" y="1340016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Metrics</a:t>
            </a:r>
            <a:endParaRPr lang="en-I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37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20276</TotalTime>
  <Words>637</Words>
  <Application>Microsoft Office PowerPoint</Application>
  <PresentationFormat>Widescreen</PresentationFormat>
  <Paragraphs>120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Agency FB</vt:lpstr>
      <vt:lpstr>Arial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50</cp:revision>
  <dcterms:created xsi:type="dcterms:W3CDTF">2026-04-11T06:12:57Z</dcterms:created>
  <dcterms:modified xsi:type="dcterms:W3CDTF">2026-04-25T09:36:39Z</dcterms:modified>
</cp:coreProperties>
</file>