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A2A2E7-F5BA-4B5A-8C48-4E76ABF42F78}" type="doc">
      <dgm:prSet loTypeId="urn:microsoft.com/office/officeart/2005/8/layout/hierarchy4" loCatId="list" qsTypeId="urn:microsoft.com/office/officeart/2005/8/quickstyle/simple1" qsCatId="simple" csTypeId="urn:microsoft.com/office/officeart/2005/8/colors/accent1_2" csCatId="accent1" phldr="1"/>
      <dgm:spPr/>
    </dgm:pt>
    <dgm:pt modelId="{F12779DB-8C4C-4622-9864-0BBAD88629A7}">
      <dgm:prSet phldrT="[Text]" custT="1"/>
      <dgm:spPr>
        <a:noFill/>
        <a:ln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tx1"/>
              </a:gs>
            </a:gsLst>
            <a:lin ang="8100000" scaled="1"/>
            <a:tileRect/>
          </a:gradFill>
        </a:ln>
      </dgm:spPr>
      <dgm:t>
        <a:bodyPr/>
        <a:lstStyle/>
        <a:p>
          <a:r>
            <a:rPr lang="en-IN" sz="1800" b="1" i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Agentic orchestration</a:t>
          </a:r>
        </a:p>
        <a:p>
          <a:endParaRPr lang="en-US" sz="2100" b="1" i="0" cap="none" spc="0" dirty="0" smtClean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  <a:p>
          <a:r>
            <a:rPr lang="en-US" sz="1400" b="1" i="0" dirty="0" smtClean="0">
              <a:solidFill>
                <a:schemeClr val="tx1"/>
              </a:solidFill>
            </a:rPr>
            <a:t>A conversation manager coordinates specialized agents; workflows are not a single fixed chain</a:t>
          </a:r>
          <a:endParaRPr lang="en-IN" sz="1400" b="1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F95B1026-5754-4509-B32B-8B2A17BAE8CA}" type="parTrans" cxnId="{C75683C0-0100-432D-B28D-F3BBE7D6A606}">
      <dgm:prSet/>
      <dgm:spPr/>
      <dgm:t>
        <a:bodyPr/>
        <a:lstStyle/>
        <a:p>
          <a:endParaRPr lang="en-IN"/>
        </a:p>
      </dgm:t>
    </dgm:pt>
    <dgm:pt modelId="{B981BFBF-8F8E-4E56-B410-9C11A9FA3740}" type="sibTrans" cxnId="{C75683C0-0100-432D-B28D-F3BBE7D6A606}">
      <dgm:prSet/>
      <dgm:spPr/>
      <dgm:t>
        <a:bodyPr/>
        <a:lstStyle/>
        <a:p>
          <a:endParaRPr lang="en-IN"/>
        </a:p>
      </dgm:t>
    </dgm:pt>
    <dgm:pt modelId="{ED6ED3DA-1280-4AD5-BE04-FFF9A0890E83}">
      <dgm:prSet phldrT="[Text]" custT="1"/>
      <dgm:spPr>
        <a:noFill/>
        <a:ln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tx1"/>
              </a:gs>
            </a:gsLst>
            <a:lin ang="8100000" scaled="1"/>
            <a:tileRect/>
          </a:gradFill>
        </a:ln>
      </dgm:spPr>
      <dgm:t>
        <a:bodyPr/>
        <a:lstStyle/>
        <a:p>
          <a:r>
            <a:rPr lang="en-IN" sz="1800" b="1" i="0" dirty="0" smtClean="0"/>
            <a:t>LangGraph control flow</a:t>
          </a:r>
        </a:p>
        <a:p>
          <a:endParaRPr lang="en-US" sz="1200" b="1" i="0" dirty="0" smtClean="0"/>
        </a:p>
        <a:p>
          <a:r>
            <a:rPr lang="en-US" sz="1400" b="1" i="0" dirty="0" smtClean="0"/>
            <a:t>Nodes (agents/steps), edges (transitions), and conditions (which path to take) are first-class; supports loops for retry and user confirmation</a:t>
          </a:r>
          <a:endParaRPr lang="en-IN" sz="1400" b="1" dirty="0"/>
        </a:p>
      </dgm:t>
    </dgm:pt>
    <dgm:pt modelId="{A1AEE6DD-7EAC-44F2-ADA2-6B2961441019}" type="parTrans" cxnId="{AB7F3CB4-3E3D-459F-B35A-23087A45600E}">
      <dgm:prSet/>
      <dgm:spPr/>
      <dgm:t>
        <a:bodyPr/>
        <a:lstStyle/>
        <a:p>
          <a:endParaRPr lang="en-IN"/>
        </a:p>
      </dgm:t>
    </dgm:pt>
    <dgm:pt modelId="{030FDFF3-E541-4F0D-9E55-9D7395EE2D01}" type="sibTrans" cxnId="{AB7F3CB4-3E3D-459F-B35A-23087A45600E}">
      <dgm:prSet/>
      <dgm:spPr/>
      <dgm:t>
        <a:bodyPr/>
        <a:lstStyle/>
        <a:p>
          <a:endParaRPr lang="en-IN"/>
        </a:p>
      </dgm:t>
    </dgm:pt>
    <dgm:pt modelId="{F7CA22C0-695E-444A-A8A0-9DEF6725AE6E}">
      <dgm:prSet phldrT="[Text]" custT="1"/>
      <dgm:spPr>
        <a:noFill/>
        <a:ln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tx1"/>
              </a:gs>
            </a:gsLst>
            <a:lin ang="8100000" scaled="1"/>
            <a:tileRect/>
          </a:gradFill>
        </a:ln>
      </dgm:spPr>
      <dgm:t>
        <a:bodyPr/>
        <a:lstStyle/>
        <a:p>
          <a:r>
            <a:rPr lang="en-IN" sz="1800" b="1" i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Multimodal RAG</a:t>
          </a:r>
        </a:p>
        <a:p>
          <a:endParaRPr lang="en-US" sz="1700" b="0" i="0" cap="none" spc="0" dirty="0" smtClean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  <a:p>
          <a:r>
            <a:rPr lang="en-US" sz="1400" b="1" i="0" dirty="0" err="1" smtClean="0">
              <a:solidFill>
                <a:schemeClr val="tx1"/>
              </a:solidFill>
            </a:rPr>
            <a:t>FalkorDB</a:t>
          </a:r>
          <a:r>
            <a:rPr lang="en-US" sz="1400" b="1" i="0" dirty="0" smtClean="0">
              <a:solidFill>
                <a:schemeClr val="tx1"/>
              </a:solidFill>
            </a:rPr>
            <a:t> stores text, image, OCR, and multilingual vectors for retrieval-augmented grounding.</a:t>
          </a:r>
          <a:endParaRPr lang="en-IN" sz="1400" b="1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769FBD52-B072-45D0-B719-6CD84C141D53}" type="parTrans" cxnId="{832FD0E0-7E0A-46F9-8ACD-569CE2C3B6B2}">
      <dgm:prSet/>
      <dgm:spPr/>
      <dgm:t>
        <a:bodyPr/>
        <a:lstStyle/>
        <a:p>
          <a:endParaRPr lang="en-IN"/>
        </a:p>
      </dgm:t>
    </dgm:pt>
    <dgm:pt modelId="{7631FC74-FE40-44DC-ABF9-1E78A7788F46}" type="sibTrans" cxnId="{832FD0E0-7E0A-46F9-8ACD-569CE2C3B6B2}">
      <dgm:prSet/>
      <dgm:spPr/>
      <dgm:t>
        <a:bodyPr/>
        <a:lstStyle/>
        <a:p>
          <a:endParaRPr lang="en-IN"/>
        </a:p>
      </dgm:t>
    </dgm:pt>
    <dgm:pt modelId="{CC4B62BA-1EDE-4FC1-B471-3E5317E6CDDA}">
      <dgm:prSet phldrT="[Text]" custT="1"/>
      <dgm:spPr>
        <a:noFill/>
        <a:ln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tx1"/>
              </a:gs>
            </a:gsLst>
            <a:lin ang="8100000" scaled="1"/>
            <a:tileRect/>
          </a:gradFill>
        </a:ln>
      </dgm:spPr>
      <dgm:t>
        <a:bodyPr/>
        <a:lstStyle/>
        <a:p>
          <a:r>
            <a:rPr lang="en-IN" sz="1800" b="1" i="0" dirty="0" smtClean="0"/>
            <a:t>Confidence-aware automation</a:t>
          </a:r>
        </a:p>
        <a:p>
          <a:endParaRPr lang="en-US" sz="1900" b="1" i="0" dirty="0" smtClean="0"/>
        </a:p>
        <a:p>
          <a:r>
            <a:rPr lang="en-US" sz="1400" b="1" i="0" dirty="0" smtClean="0"/>
            <a:t>High / medium / low confidence gates drive billing, user confirmation, or fallback—not blind automation.</a:t>
          </a:r>
          <a:endParaRPr lang="en-IN" sz="1400" b="1" dirty="0"/>
        </a:p>
      </dgm:t>
    </dgm:pt>
    <dgm:pt modelId="{197064E5-42DB-4A91-8D3C-DBE42572AC22}" type="parTrans" cxnId="{E3FA6B06-1B67-4DCF-9E8B-DCE270CE4CD5}">
      <dgm:prSet/>
      <dgm:spPr/>
      <dgm:t>
        <a:bodyPr/>
        <a:lstStyle/>
        <a:p>
          <a:endParaRPr lang="en-IN"/>
        </a:p>
      </dgm:t>
    </dgm:pt>
    <dgm:pt modelId="{526ABB39-C36E-4F39-90A1-F07410056798}" type="sibTrans" cxnId="{E3FA6B06-1B67-4DCF-9E8B-DCE270CE4CD5}">
      <dgm:prSet/>
      <dgm:spPr/>
      <dgm:t>
        <a:bodyPr/>
        <a:lstStyle/>
        <a:p>
          <a:endParaRPr lang="en-IN"/>
        </a:p>
      </dgm:t>
    </dgm:pt>
    <dgm:pt modelId="{118D96A4-79C2-4B0C-89BD-4FA7AFF705CA}">
      <dgm:prSet phldrT="[Text]" custT="1"/>
      <dgm:spPr>
        <a:noFill/>
        <a:ln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tx1"/>
              </a:gs>
            </a:gsLst>
            <a:lin ang="8100000" scaled="1"/>
            <a:tileRect/>
          </a:gradFill>
        </a:ln>
      </dgm:spPr>
      <dgm:t>
        <a:bodyPr/>
        <a:lstStyle/>
        <a:p>
          <a:r>
            <a:rPr lang="en-IN" sz="1800" b="1" i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Guardrails</a:t>
          </a:r>
          <a:endParaRPr lang="en-IN" sz="2000" b="1" i="0" cap="none" spc="0" dirty="0" smtClean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  <a:p>
          <a:endParaRPr lang="en-US" sz="2000" b="0" i="0" cap="none" spc="0" dirty="0" smtClean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  <a:p>
          <a:r>
            <a:rPr lang="en-US" sz="1400" b="1" i="0" dirty="0" smtClean="0">
              <a:solidFill>
                <a:schemeClr val="tx1"/>
              </a:solidFill>
            </a:rPr>
            <a:t>Input validation, policy constraints, and thresholds before irreversible actions (e.g. billing).</a:t>
          </a:r>
          <a:endParaRPr lang="en-IN" sz="1400" b="1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60D0F228-51E6-479E-94A9-FF31E8CA3034}" type="parTrans" cxnId="{147B0EB2-FDDE-471A-99DB-3CA6A588F30E}">
      <dgm:prSet/>
      <dgm:spPr/>
      <dgm:t>
        <a:bodyPr/>
        <a:lstStyle/>
        <a:p>
          <a:endParaRPr lang="en-IN"/>
        </a:p>
      </dgm:t>
    </dgm:pt>
    <dgm:pt modelId="{D7B975B4-D8F9-43FB-B4A3-A77AB617E276}" type="sibTrans" cxnId="{147B0EB2-FDDE-471A-99DB-3CA6A588F30E}">
      <dgm:prSet/>
      <dgm:spPr/>
      <dgm:t>
        <a:bodyPr/>
        <a:lstStyle/>
        <a:p>
          <a:endParaRPr lang="en-IN"/>
        </a:p>
      </dgm:t>
    </dgm:pt>
    <dgm:pt modelId="{410499F7-D158-427E-B8D2-2E312B247580}">
      <dgm:prSet phldrT="[Text]" custT="1"/>
      <dgm:spPr>
        <a:noFill/>
        <a:ln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tx1"/>
              </a:gs>
            </a:gsLst>
            <a:lin ang="8100000" scaled="1"/>
            <a:tileRect/>
          </a:gradFill>
        </a:ln>
      </dgm:spPr>
      <dgm:t>
        <a:bodyPr/>
        <a:lstStyle/>
        <a:p>
          <a:r>
            <a:rPr lang="en-IN" sz="1800" b="1" i="0" dirty="0" smtClean="0"/>
            <a:t>Open-source stack</a:t>
          </a:r>
        </a:p>
        <a:p>
          <a:endParaRPr lang="en-IN" sz="1800" b="1" i="0" dirty="0" smtClean="0"/>
        </a:p>
        <a:p>
          <a:r>
            <a:rPr lang="en-US" sz="1400" b="1" i="0" dirty="0" smtClean="0">
              <a:solidFill>
                <a:schemeClr val="bg1"/>
              </a:solidFill>
            </a:rPr>
            <a:t>Python, </a:t>
          </a:r>
          <a:r>
            <a:rPr lang="en-US" sz="1400" b="1" i="0" dirty="0" err="1" smtClean="0">
              <a:solidFill>
                <a:schemeClr val="bg1"/>
              </a:solidFill>
            </a:rPr>
            <a:t>Streamlit</a:t>
          </a:r>
          <a:r>
            <a:rPr lang="en-US" sz="1400" b="1" i="0" dirty="0" smtClean="0">
              <a:solidFill>
                <a:schemeClr val="bg1"/>
              </a:solidFill>
            </a:rPr>
            <a:t>, LangGraph, open LLMs and embedding models, enabling reproducibility and cost control.</a:t>
          </a:r>
          <a:endParaRPr lang="en-IN" sz="1400" b="1" dirty="0">
            <a:solidFill>
              <a:schemeClr val="bg1"/>
            </a:solidFill>
          </a:endParaRPr>
        </a:p>
      </dgm:t>
    </dgm:pt>
    <dgm:pt modelId="{11E1A025-3618-4216-A26C-B23AC924E49B}" type="parTrans" cxnId="{68FFCEA1-0489-4E86-B66C-D5164B4CED14}">
      <dgm:prSet/>
      <dgm:spPr/>
      <dgm:t>
        <a:bodyPr/>
        <a:lstStyle/>
        <a:p>
          <a:endParaRPr lang="en-IN"/>
        </a:p>
      </dgm:t>
    </dgm:pt>
    <dgm:pt modelId="{D071A09B-C3D2-4F5F-A38E-813FC3D6ECB6}" type="sibTrans" cxnId="{68FFCEA1-0489-4E86-B66C-D5164B4CED14}">
      <dgm:prSet/>
      <dgm:spPr/>
      <dgm:t>
        <a:bodyPr/>
        <a:lstStyle/>
        <a:p>
          <a:endParaRPr lang="en-IN"/>
        </a:p>
      </dgm:t>
    </dgm:pt>
    <dgm:pt modelId="{957DB44D-B04B-4F19-B413-CB0EAAC27611}" type="pres">
      <dgm:prSet presAssocID="{D5A2A2E7-F5BA-4B5A-8C48-4E76ABF42F78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0CC9DA4-CFCE-4188-801B-55661927DDC6}" type="pres">
      <dgm:prSet presAssocID="{F12779DB-8C4C-4622-9864-0BBAD88629A7}" presName="vertOne" presStyleCnt="0"/>
      <dgm:spPr/>
    </dgm:pt>
    <dgm:pt modelId="{A8338CAE-5863-4503-9231-5E062159E815}" type="pres">
      <dgm:prSet presAssocID="{F12779DB-8C4C-4622-9864-0BBAD88629A7}" presName="txOne" presStyleLbl="node0" presStyleIdx="0" presStyleCnt="6" custScaleX="105297" custLinFactX="-4822" custLinFactNeighborX="-100000" custLinFactNeighborY="1738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AD15FCFA-99C3-462A-A381-D534F3575B3E}" type="pres">
      <dgm:prSet presAssocID="{F12779DB-8C4C-4622-9864-0BBAD88629A7}" presName="horzOne" presStyleCnt="0"/>
      <dgm:spPr/>
    </dgm:pt>
    <dgm:pt modelId="{1AEFF390-15FE-431D-A382-71D7E93A1949}" type="pres">
      <dgm:prSet presAssocID="{B981BFBF-8F8E-4E56-B410-9C11A9FA3740}" presName="sibSpaceOne" presStyleCnt="0"/>
      <dgm:spPr/>
    </dgm:pt>
    <dgm:pt modelId="{1A5503A8-D087-4A32-830B-B323BD98CF1A}" type="pres">
      <dgm:prSet presAssocID="{ED6ED3DA-1280-4AD5-BE04-FFF9A0890E83}" presName="vertOne" presStyleCnt="0"/>
      <dgm:spPr/>
    </dgm:pt>
    <dgm:pt modelId="{785199EB-A019-42EA-AED3-5370F17D6E6B}" type="pres">
      <dgm:prSet presAssocID="{ED6ED3DA-1280-4AD5-BE04-FFF9A0890E83}" presName="txOne" presStyleLbl="node0" presStyleIdx="1" presStyleCnt="6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015686E1-CF53-4D13-9481-A20313D0FEAF}" type="pres">
      <dgm:prSet presAssocID="{ED6ED3DA-1280-4AD5-BE04-FFF9A0890E83}" presName="horzOne" presStyleCnt="0"/>
      <dgm:spPr/>
    </dgm:pt>
    <dgm:pt modelId="{BB683615-F577-42D8-BE3A-C2B35CC452EE}" type="pres">
      <dgm:prSet presAssocID="{030FDFF3-E541-4F0D-9E55-9D7395EE2D01}" presName="sibSpaceOne" presStyleCnt="0"/>
      <dgm:spPr/>
    </dgm:pt>
    <dgm:pt modelId="{9C63A49B-26F4-4647-89B5-0025D73F00C7}" type="pres">
      <dgm:prSet presAssocID="{F7CA22C0-695E-444A-A8A0-9DEF6725AE6E}" presName="vertOne" presStyleCnt="0"/>
      <dgm:spPr/>
    </dgm:pt>
    <dgm:pt modelId="{7A52CE41-1C76-4DDB-9B6A-F151AF807A19}" type="pres">
      <dgm:prSet presAssocID="{F7CA22C0-695E-444A-A8A0-9DEF6725AE6E}" presName="txOne" presStyleLbl="node0" presStyleIdx="2" presStyleCnt="6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1D68D310-61F3-48C2-B96C-145B61C8C25D}" type="pres">
      <dgm:prSet presAssocID="{F7CA22C0-695E-444A-A8A0-9DEF6725AE6E}" presName="horzOne" presStyleCnt="0"/>
      <dgm:spPr/>
    </dgm:pt>
    <dgm:pt modelId="{C3B14F77-4090-412C-9930-37B15BCE8A71}" type="pres">
      <dgm:prSet presAssocID="{7631FC74-FE40-44DC-ABF9-1E78A7788F46}" presName="sibSpaceOne" presStyleCnt="0"/>
      <dgm:spPr/>
    </dgm:pt>
    <dgm:pt modelId="{F0CEAF75-D550-4A50-AA17-8B1F6A4ADF02}" type="pres">
      <dgm:prSet presAssocID="{CC4B62BA-1EDE-4FC1-B471-3E5317E6CDDA}" presName="vertOne" presStyleCnt="0"/>
      <dgm:spPr/>
    </dgm:pt>
    <dgm:pt modelId="{9A022A7E-30C7-4324-A487-D63532D28F24}" type="pres">
      <dgm:prSet presAssocID="{CC4B62BA-1EDE-4FC1-B471-3E5317E6CDDA}" presName="txOne" presStyleLbl="node0" presStyleIdx="3" presStyleCnt="6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D1DE0D08-8405-4894-A1BD-0160E8DA6C25}" type="pres">
      <dgm:prSet presAssocID="{CC4B62BA-1EDE-4FC1-B471-3E5317E6CDDA}" presName="horzOne" presStyleCnt="0"/>
      <dgm:spPr/>
    </dgm:pt>
    <dgm:pt modelId="{629C5194-801D-49FC-8BF5-3D9A65FE2B16}" type="pres">
      <dgm:prSet presAssocID="{526ABB39-C36E-4F39-90A1-F07410056798}" presName="sibSpaceOne" presStyleCnt="0"/>
      <dgm:spPr/>
    </dgm:pt>
    <dgm:pt modelId="{2A8FC03F-B4ED-4FE2-9A8D-4CF51F8F8914}" type="pres">
      <dgm:prSet presAssocID="{118D96A4-79C2-4B0C-89BD-4FA7AFF705CA}" presName="vertOne" presStyleCnt="0"/>
      <dgm:spPr/>
    </dgm:pt>
    <dgm:pt modelId="{373BFA4C-E940-4F1A-808B-F27F0B4407A4}" type="pres">
      <dgm:prSet presAssocID="{118D96A4-79C2-4B0C-89BD-4FA7AFF705CA}" presName="txOne" presStyleLbl="node0" presStyleIdx="4" presStyleCnt="6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10F9597B-1895-42E7-B3D6-0F915203C0D0}" type="pres">
      <dgm:prSet presAssocID="{118D96A4-79C2-4B0C-89BD-4FA7AFF705CA}" presName="horzOne" presStyleCnt="0"/>
      <dgm:spPr/>
    </dgm:pt>
    <dgm:pt modelId="{F3108E6E-9ADE-4AD0-A2F4-A2513DEB38F6}" type="pres">
      <dgm:prSet presAssocID="{D7B975B4-D8F9-43FB-B4A3-A77AB617E276}" presName="sibSpaceOne" presStyleCnt="0"/>
      <dgm:spPr/>
    </dgm:pt>
    <dgm:pt modelId="{2222DD1D-250B-4C58-AE98-E8E599EB71D4}" type="pres">
      <dgm:prSet presAssocID="{410499F7-D158-427E-B8D2-2E312B247580}" presName="vertOne" presStyleCnt="0"/>
      <dgm:spPr/>
    </dgm:pt>
    <dgm:pt modelId="{83402992-9AFA-4E61-9082-6165B918734B}" type="pres">
      <dgm:prSet presAssocID="{410499F7-D158-427E-B8D2-2E312B247580}" presName="txOne" presStyleLbl="node0" presStyleIdx="5" presStyleCnt="6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AF6F5343-3C6B-4509-A151-5EB06EC8A972}" type="pres">
      <dgm:prSet presAssocID="{410499F7-D158-427E-B8D2-2E312B247580}" presName="horzOne" presStyleCnt="0"/>
      <dgm:spPr/>
    </dgm:pt>
  </dgm:ptLst>
  <dgm:cxnLst>
    <dgm:cxn modelId="{FE809726-949A-4998-9C3F-9073B6CED0C3}" type="presOf" srcId="{D5A2A2E7-F5BA-4B5A-8C48-4E76ABF42F78}" destId="{957DB44D-B04B-4F19-B413-CB0EAAC27611}" srcOrd="0" destOrd="0" presId="urn:microsoft.com/office/officeart/2005/8/layout/hierarchy4"/>
    <dgm:cxn modelId="{6044CD7D-1C45-409D-8CAF-BE764B8D0D09}" type="presOf" srcId="{118D96A4-79C2-4B0C-89BD-4FA7AFF705CA}" destId="{373BFA4C-E940-4F1A-808B-F27F0B4407A4}" srcOrd="0" destOrd="0" presId="urn:microsoft.com/office/officeart/2005/8/layout/hierarchy4"/>
    <dgm:cxn modelId="{1ECF81E0-CFF7-4CB2-8965-6E2E7FC8983C}" type="presOf" srcId="{410499F7-D158-427E-B8D2-2E312B247580}" destId="{83402992-9AFA-4E61-9082-6165B918734B}" srcOrd="0" destOrd="0" presId="urn:microsoft.com/office/officeart/2005/8/layout/hierarchy4"/>
    <dgm:cxn modelId="{AB7F3CB4-3E3D-459F-B35A-23087A45600E}" srcId="{D5A2A2E7-F5BA-4B5A-8C48-4E76ABF42F78}" destId="{ED6ED3DA-1280-4AD5-BE04-FFF9A0890E83}" srcOrd="1" destOrd="0" parTransId="{A1AEE6DD-7EAC-44F2-ADA2-6B2961441019}" sibTransId="{030FDFF3-E541-4F0D-9E55-9D7395EE2D01}"/>
    <dgm:cxn modelId="{68FFCEA1-0489-4E86-B66C-D5164B4CED14}" srcId="{D5A2A2E7-F5BA-4B5A-8C48-4E76ABF42F78}" destId="{410499F7-D158-427E-B8D2-2E312B247580}" srcOrd="5" destOrd="0" parTransId="{11E1A025-3618-4216-A26C-B23AC924E49B}" sibTransId="{D071A09B-C3D2-4F5F-A38E-813FC3D6ECB6}"/>
    <dgm:cxn modelId="{D88811EB-8267-4BAC-B83F-3CD9D3C9680C}" type="presOf" srcId="{ED6ED3DA-1280-4AD5-BE04-FFF9A0890E83}" destId="{785199EB-A019-42EA-AED3-5370F17D6E6B}" srcOrd="0" destOrd="0" presId="urn:microsoft.com/office/officeart/2005/8/layout/hierarchy4"/>
    <dgm:cxn modelId="{CE2FB6D3-3858-49EE-80DC-544BB5C6568D}" type="presOf" srcId="{CC4B62BA-1EDE-4FC1-B471-3E5317E6CDDA}" destId="{9A022A7E-30C7-4324-A487-D63532D28F24}" srcOrd="0" destOrd="0" presId="urn:microsoft.com/office/officeart/2005/8/layout/hierarchy4"/>
    <dgm:cxn modelId="{C75683C0-0100-432D-B28D-F3BBE7D6A606}" srcId="{D5A2A2E7-F5BA-4B5A-8C48-4E76ABF42F78}" destId="{F12779DB-8C4C-4622-9864-0BBAD88629A7}" srcOrd="0" destOrd="0" parTransId="{F95B1026-5754-4509-B32B-8B2A17BAE8CA}" sibTransId="{B981BFBF-8F8E-4E56-B410-9C11A9FA3740}"/>
    <dgm:cxn modelId="{E3FA6B06-1B67-4DCF-9E8B-DCE270CE4CD5}" srcId="{D5A2A2E7-F5BA-4B5A-8C48-4E76ABF42F78}" destId="{CC4B62BA-1EDE-4FC1-B471-3E5317E6CDDA}" srcOrd="3" destOrd="0" parTransId="{197064E5-42DB-4A91-8D3C-DBE42572AC22}" sibTransId="{526ABB39-C36E-4F39-90A1-F07410056798}"/>
    <dgm:cxn modelId="{4602A9AF-7DE2-42F6-B382-E39FCACEA29E}" type="presOf" srcId="{F12779DB-8C4C-4622-9864-0BBAD88629A7}" destId="{A8338CAE-5863-4503-9231-5E062159E815}" srcOrd="0" destOrd="0" presId="urn:microsoft.com/office/officeart/2005/8/layout/hierarchy4"/>
    <dgm:cxn modelId="{147B0EB2-FDDE-471A-99DB-3CA6A588F30E}" srcId="{D5A2A2E7-F5BA-4B5A-8C48-4E76ABF42F78}" destId="{118D96A4-79C2-4B0C-89BD-4FA7AFF705CA}" srcOrd="4" destOrd="0" parTransId="{60D0F228-51E6-479E-94A9-FF31E8CA3034}" sibTransId="{D7B975B4-D8F9-43FB-B4A3-A77AB617E276}"/>
    <dgm:cxn modelId="{832FD0E0-7E0A-46F9-8ACD-569CE2C3B6B2}" srcId="{D5A2A2E7-F5BA-4B5A-8C48-4E76ABF42F78}" destId="{F7CA22C0-695E-444A-A8A0-9DEF6725AE6E}" srcOrd="2" destOrd="0" parTransId="{769FBD52-B072-45D0-B719-6CD84C141D53}" sibTransId="{7631FC74-FE40-44DC-ABF9-1E78A7788F46}"/>
    <dgm:cxn modelId="{D5B31665-884F-4D2C-8D54-07A52F4AD080}" type="presOf" srcId="{F7CA22C0-695E-444A-A8A0-9DEF6725AE6E}" destId="{7A52CE41-1C76-4DDB-9B6A-F151AF807A19}" srcOrd="0" destOrd="0" presId="urn:microsoft.com/office/officeart/2005/8/layout/hierarchy4"/>
    <dgm:cxn modelId="{36E0FBCE-EC17-4EF1-862E-9052CDF9681A}" type="presParOf" srcId="{957DB44D-B04B-4F19-B413-CB0EAAC27611}" destId="{C0CC9DA4-CFCE-4188-801B-55661927DDC6}" srcOrd="0" destOrd="0" presId="urn:microsoft.com/office/officeart/2005/8/layout/hierarchy4"/>
    <dgm:cxn modelId="{85E058C3-B2AE-4B69-AF6E-6288CA81D17F}" type="presParOf" srcId="{C0CC9DA4-CFCE-4188-801B-55661927DDC6}" destId="{A8338CAE-5863-4503-9231-5E062159E815}" srcOrd="0" destOrd="0" presId="urn:microsoft.com/office/officeart/2005/8/layout/hierarchy4"/>
    <dgm:cxn modelId="{9157EEAE-2A84-4B7B-AED7-5EB0C1AB4F1F}" type="presParOf" srcId="{C0CC9DA4-CFCE-4188-801B-55661927DDC6}" destId="{AD15FCFA-99C3-462A-A381-D534F3575B3E}" srcOrd="1" destOrd="0" presId="urn:microsoft.com/office/officeart/2005/8/layout/hierarchy4"/>
    <dgm:cxn modelId="{A418D157-B113-47CE-AA24-B0A4A7905FCF}" type="presParOf" srcId="{957DB44D-B04B-4F19-B413-CB0EAAC27611}" destId="{1AEFF390-15FE-431D-A382-71D7E93A1949}" srcOrd="1" destOrd="0" presId="urn:microsoft.com/office/officeart/2005/8/layout/hierarchy4"/>
    <dgm:cxn modelId="{09EE8A2A-D872-4738-B8FD-DD6323FDEE43}" type="presParOf" srcId="{957DB44D-B04B-4F19-B413-CB0EAAC27611}" destId="{1A5503A8-D087-4A32-830B-B323BD98CF1A}" srcOrd="2" destOrd="0" presId="urn:microsoft.com/office/officeart/2005/8/layout/hierarchy4"/>
    <dgm:cxn modelId="{BB5A093B-2B38-427A-A15E-4464E01A0641}" type="presParOf" srcId="{1A5503A8-D087-4A32-830B-B323BD98CF1A}" destId="{785199EB-A019-42EA-AED3-5370F17D6E6B}" srcOrd="0" destOrd="0" presId="urn:microsoft.com/office/officeart/2005/8/layout/hierarchy4"/>
    <dgm:cxn modelId="{E5046FA0-FD50-4570-992D-A81D59B2CEDE}" type="presParOf" srcId="{1A5503A8-D087-4A32-830B-B323BD98CF1A}" destId="{015686E1-CF53-4D13-9481-A20313D0FEAF}" srcOrd="1" destOrd="0" presId="urn:microsoft.com/office/officeart/2005/8/layout/hierarchy4"/>
    <dgm:cxn modelId="{44D9271A-85B0-4F2B-80D4-8513CF2B3E1B}" type="presParOf" srcId="{957DB44D-B04B-4F19-B413-CB0EAAC27611}" destId="{BB683615-F577-42D8-BE3A-C2B35CC452EE}" srcOrd="3" destOrd="0" presId="urn:microsoft.com/office/officeart/2005/8/layout/hierarchy4"/>
    <dgm:cxn modelId="{92513C45-D49C-4DC1-8D33-35DF62EAA188}" type="presParOf" srcId="{957DB44D-B04B-4F19-B413-CB0EAAC27611}" destId="{9C63A49B-26F4-4647-89B5-0025D73F00C7}" srcOrd="4" destOrd="0" presId="urn:microsoft.com/office/officeart/2005/8/layout/hierarchy4"/>
    <dgm:cxn modelId="{AAABFDF9-502A-4F46-8192-B4EF74F23050}" type="presParOf" srcId="{9C63A49B-26F4-4647-89B5-0025D73F00C7}" destId="{7A52CE41-1C76-4DDB-9B6A-F151AF807A19}" srcOrd="0" destOrd="0" presId="urn:microsoft.com/office/officeart/2005/8/layout/hierarchy4"/>
    <dgm:cxn modelId="{56827591-FAB0-411E-8E9A-D8DE378C5A4F}" type="presParOf" srcId="{9C63A49B-26F4-4647-89B5-0025D73F00C7}" destId="{1D68D310-61F3-48C2-B96C-145B61C8C25D}" srcOrd="1" destOrd="0" presId="urn:microsoft.com/office/officeart/2005/8/layout/hierarchy4"/>
    <dgm:cxn modelId="{DBFA621A-75A1-4BB3-86F5-69EC17615F58}" type="presParOf" srcId="{957DB44D-B04B-4F19-B413-CB0EAAC27611}" destId="{C3B14F77-4090-412C-9930-37B15BCE8A71}" srcOrd="5" destOrd="0" presId="urn:microsoft.com/office/officeart/2005/8/layout/hierarchy4"/>
    <dgm:cxn modelId="{D7C9F537-0C46-461C-920F-4618C453C0DC}" type="presParOf" srcId="{957DB44D-B04B-4F19-B413-CB0EAAC27611}" destId="{F0CEAF75-D550-4A50-AA17-8B1F6A4ADF02}" srcOrd="6" destOrd="0" presId="urn:microsoft.com/office/officeart/2005/8/layout/hierarchy4"/>
    <dgm:cxn modelId="{FE03BF04-E252-4471-9377-FE7C53882BAE}" type="presParOf" srcId="{F0CEAF75-D550-4A50-AA17-8B1F6A4ADF02}" destId="{9A022A7E-30C7-4324-A487-D63532D28F24}" srcOrd="0" destOrd="0" presId="urn:microsoft.com/office/officeart/2005/8/layout/hierarchy4"/>
    <dgm:cxn modelId="{AFD97027-AD77-4FEA-AFDD-BD2EAD31CB85}" type="presParOf" srcId="{F0CEAF75-D550-4A50-AA17-8B1F6A4ADF02}" destId="{D1DE0D08-8405-4894-A1BD-0160E8DA6C25}" srcOrd="1" destOrd="0" presId="urn:microsoft.com/office/officeart/2005/8/layout/hierarchy4"/>
    <dgm:cxn modelId="{491C1A37-790A-49F7-9842-054B5880B639}" type="presParOf" srcId="{957DB44D-B04B-4F19-B413-CB0EAAC27611}" destId="{629C5194-801D-49FC-8BF5-3D9A65FE2B16}" srcOrd="7" destOrd="0" presId="urn:microsoft.com/office/officeart/2005/8/layout/hierarchy4"/>
    <dgm:cxn modelId="{054A5159-942D-4B51-80A1-E62BE6603EEF}" type="presParOf" srcId="{957DB44D-B04B-4F19-B413-CB0EAAC27611}" destId="{2A8FC03F-B4ED-4FE2-9A8D-4CF51F8F8914}" srcOrd="8" destOrd="0" presId="urn:microsoft.com/office/officeart/2005/8/layout/hierarchy4"/>
    <dgm:cxn modelId="{91F668AF-9BB7-4FB6-B29B-76831AC830CB}" type="presParOf" srcId="{2A8FC03F-B4ED-4FE2-9A8D-4CF51F8F8914}" destId="{373BFA4C-E940-4F1A-808B-F27F0B4407A4}" srcOrd="0" destOrd="0" presId="urn:microsoft.com/office/officeart/2005/8/layout/hierarchy4"/>
    <dgm:cxn modelId="{75007F8F-8AEA-4FFC-9BA6-9985543FAA89}" type="presParOf" srcId="{2A8FC03F-B4ED-4FE2-9A8D-4CF51F8F8914}" destId="{10F9597B-1895-42E7-B3D6-0F915203C0D0}" srcOrd="1" destOrd="0" presId="urn:microsoft.com/office/officeart/2005/8/layout/hierarchy4"/>
    <dgm:cxn modelId="{62DD3C3B-2291-4100-BA48-9C3BFC497F2B}" type="presParOf" srcId="{957DB44D-B04B-4F19-B413-CB0EAAC27611}" destId="{F3108E6E-9ADE-4AD0-A2F4-A2513DEB38F6}" srcOrd="9" destOrd="0" presId="urn:microsoft.com/office/officeart/2005/8/layout/hierarchy4"/>
    <dgm:cxn modelId="{6D3E1DCD-598D-4ADA-A691-567534BEF2E2}" type="presParOf" srcId="{957DB44D-B04B-4F19-B413-CB0EAAC27611}" destId="{2222DD1D-250B-4C58-AE98-E8E599EB71D4}" srcOrd="10" destOrd="0" presId="urn:microsoft.com/office/officeart/2005/8/layout/hierarchy4"/>
    <dgm:cxn modelId="{2C60DC04-6A00-446A-B2E5-AD6F1608F160}" type="presParOf" srcId="{2222DD1D-250B-4C58-AE98-E8E599EB71D4}" destId="{83402992-9AFA-4E61-9082-6165B918734B}" srcOrd="0" destOrd="0" presId="urn:microsoft.com/office/officeart/2005/8/layout/hierarchy4"/>
    <dgm:cxn modelId="{0A90C233-DB29-48A6-BDC7-D9FDC213A360}" type="presParOf" srcId="{2222DD1D-250B-4C58-AE98-E8E599EB71D4}" destId="{AF6F5343-3C6B-4509-A151-5EB06EC8A972}" srcOrd="1" destOrd="0" presId="urn:microsoft.com/office/officeart/2005/8/layout/hierarchy4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338CAE-5863-4503-9231-5E062159E815}">
      <dsp:nvSpPr>
        <dsp:cNvPr id="0" name=""/>
        <dsp:cNvSpPr/>
      </dsp:nvSpPr>
      <dsp:spPr>
        <a:xfrm>
          <a:off x="0" y="0"/>
          <a:ext cx="1520641" cy="3333750"/>
        </a:xfrm>
        <a:prstGeom prst="roundRect">
          <a:avLst>
            <a:gd name="adj" fmla="val 10000"/>
          </a:avLst>
        </a:prstGeom>
        <a:noFill/>
        <a:ln w="12700" cap="flat" cmpd="sng" algn="ctr"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tx1"/>
              </a:gs>
            </a:gsLst>
            <a:lin ang="8100000" scaled="1"/>
            <a:tileRect/>
          </a:gra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i="0" kern="120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Agentic orchestration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100" b="1" i="0" kern="1200" cap="none" spc="0" dirty="0" smtClean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i="0" kern="1200" dirty="0" smtClean="0">
              <a:solidFill>
                <a:schemeClr val="tx1"/>
              </a:solidFill>
            </a:rPr>
            <a:t>A conversation manager coordinates specialized agents; workflows are not a single fixed chain</a:t>
          </a:r>
          <a:endParaRPr lang="en-IN" sz="1400" b="1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44538" y="44538"/>
        <a:ext cx="1431565" cy="3244674"/>
      </dsp:txXfrm>
    </dsp:sp>
    <dsp:sp modelId="{785199EB-A019-42EA-AED3-5370F17D6E6B}">
      <dsp:nvSpPr>
        <dsp:cNvPr id="0" name=""/>
        <dsp:cNvSpPr/>
      </dsp:nvSpPr>
      <dsp:spPr>
        <a:xfrm>
          <a:off x="1765173" y="0"/>
          <a:ext cx="1444145" cy="3333750"/>
        </a:xfrm>
        <a:prstGeom prst="roundRect">
          <a:avLst>
            <a:gd name="adj" fmla="val 10000"/>
          </a:avLst>
        </a:prstGeom>
        <a:noFill/>
        <a:ln w="12700" cap="flat" cmpd="sng" algn="ctr"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tx1"/>
              </a:gs>
            </a:gsLst>
            <a:lin ang="8100000" scaled="1"/>
            <a:tileRect/>
          </a:gra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i="0" kern="1200" dirty="0" smtClean="0"/>
            <a:t>LangGraph control flow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b="1" i="0" kern="1200" dirty="0" smtClean="0"/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i="0" kern="1200" dirty="0" smtClean="0"/>
            <a:t>Nodes (agents/steps), edges (transitions), and conditions (which path to take) are first-class; supports loops for retry and user confirmation</a:t>
          </a:r>
          <a:endParaRPr lang="en-IN" sz="1400" b="1" kern="1200" dirty="0"/>
        </a:p>
      </dsp:txBody>
      <dsp:txXfrm>
        <a:off x="1807471" y="42298"/>
        <a:ext cx="1359549" cy="3249154"/>
      </dsp:txXfrm>
    </dsp:sp>
    <dsp:sp modelId="{7A52CE41-1C76-4DDB-9B6A-F151AF807A19}">
      <dsp:nvSpPr>
        <dsp:cNvPr id="0" name=""/>
        <dsp:cNvSpPr/>
      </dsp:nvSpPr>
      <dsp:spPr>
        <a:xfrm>
          <a:off x="3451935" y="0"/>
          <a:ext cx="1444145" cy="3333750"/>
        </a:xfrm>
        <a:prstGeom prst="roundRect">
          <a:avLst>
            <a:gd name="adj" fmla="val 10000"/>
          </a:avLst>
        </a:prstGeom>
        <a:noFill/>
        <a:ln w="12700" cap="flat" cmpd="sng" algn="ctr"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tx1"/>
              </a:gs>
            </a:gsLst>
            <a:lin ang="8100000" scaled="1"/>
            <a:tileRect/>
          </a:gra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i="0" kern="120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Multimodal RAG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b="0" i="0" kern="1200" cap="none" spc="0" dirty="0" smtClean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i="0" kern="1200" dirty="0" err="1" smtClean="0">
              <a:solidFill>
                <a:schemeClr val="tx1"/>
              </a:solidFill>
            </a:rPr>
            <a:t>FalkorDB</a:t>
          </a:r>
          <a:r>
            <a:rPr lang="en-US" sz="1400" b="1" i="0" kern="1200" dirty="0" smtClean="0">
              <a:solidFill>
                <a:schemeClr val="tx1"/>
              </a:solidFill>
            </a:rPr>
            <a:t> stores text, image, OCR, and multilingual vectors for retrieval-augmented grounding.</a:t>
          </a:r>
          <a:endParaRPr lang="en-IN" sz="1400" b="1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3494233" y="42298"/>
        <a:ext cx="1359549" cy="3249154"/>
      </dsp:txXfrm>
    </dsp:sp>
    <dsp:sp modelId="{9A022A7E-30C7-4324-A487-D63532D28F24}">
      <dsp:nvSpPr>
        <dsp:cNvPr id="0" name=""/>
        <dsp:cNvSpPr/>
      </dsp:nvSpPr>
      <dsp:spPr>
        <a:xfrm>
          <a:off x="5138697" y="0"/>
          <a:ext cx="1444145" cy="3333750"/>
        </a:xfrm>
        <a:prstGeom prst="roundRect">
          <a:avLst>
            <a:gd name="adj" fmla="val 10000"/>
          </a:avLst>
        </a:prstGeom>
        <a:noFill/>
        <a:ln w="12700" cap="flat" cmpd="sng" algn="ctr"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tx1"/>
              </a:gs>
            </a:gsLst>
            <a:lin ang="8100000" scaled="1"/>
            <a:tileRect/>
          </a:gra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i="0" kern="1200" dirty="0" smtClean="0"/>
            <a:t>Confidence-aware automation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b="1" i="0" kern="1200" dirty="0" smtClean="0"/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i="0" kern="1200" dirty="0" smtClean="0"/>
            <a:t>High / medium / low confidence gates drive billing, user confirmation, or fallback—not blind automation.</a:t>
          </a:r>
          <a:endParaRPr lang="en-IN" sz="1400" b="1" kern="1200" dirty="0"/>
        </a:p>
      </dsp:txBody>
      <dsp:txXfrm>
        <a:off x="5180995" y="42298"/>
        <a:ext cx="1359549" cy="3249154"/>
      </dsp:txXfrm>
    </dsp:sp>
    <dsp:sp modelId="{373BFA4C-E940-4F1A-808B-F27F0B4407A4}">
      <dsp:nvSpPr>
        <dsp:cNvPr id="0" name=""/>
        <dsp:cNvSpPr/>
      </dsp:nvSpPr>
      <dsp:spPr>
        <a:xfrm>
          <a:off x="6825459" y="0"/>
          <a:ext cx="1444145" cy="3333750"/>
        </a:xfrm>
        <a:prstGeom prst="roundRect">
          <a:avLst>
            <a:gd name="adj" fmla="val 10000"/>
          </a:avLst>
        </a:prstGeom>
        <a:noFill/>
        <a:ln w="12700" cap="flat" cmpd="sng" algn="ctr"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tx1"/>
              </a:gs>
            </a:gsLst>
            <a:lin ang="8100000" scaled="1"/>
            <a:tileRect/>
          </a:gra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i="0" kern="120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Guardrails</a:t>
          </a:r>
          <a:endParaRPr lang="en-IN" sz="2000" b="1" i="0" kern="1200" cap="none" spc="0" dirty="0" smtClean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b="0" i="0" kern="1200" cap="none" spc="0" dirty="0" smtClean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i="0" kern="1200" dirty="0" smtClean="0">
              <a:solidFill>
                <a:schemeClr val="tx1"/>
              </a:solidFill>
            </a:rPr>
            <a:t>Input validation, policy constraints, and thresholds before irreversible actions (e.g. billing).</a:t>
          </a:r>
          <a:endParaRPr lang="en-IN" sz="1400" b="1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6867757" y="42298"/>
        <a:ext cx="1359549" cy="3249154"/>
      </dsp:txXfrm>
    </dsp:sp>
    <dsp:sp modelId="{83402992-9AFA-4E61-9082-6165B918734B}">
      <dsp:nvSpPr>
        <dsp:cNvPr id="0" name=""/>
        <dsp:cNvSpPr/>
      </dsp:nvSpPr>
      <dsp:spPr>
        <a:xfrm>
          <a:off x="8512221" y="0"/>
          <a:ext cx="1444145" cy="3333750"/>
        </a:xfrm>
        <a:prstGeom prst="roundRect">
          <a:avLst>
            <a:gd name="adj" fmla="val 10000"/>
          </a:avLst>
        </a:prstGeom>
        <a:noFill/>
        <a:ln w="12700" cap="flat" cmpd="sng" algn="ctr"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tx1"/>
              </a:gs>
            </a:gsLst>
            <a:lin ang="8100000" scaled="1"/>
            <a:tileRect/>
          </a:gra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i="0" kern="1200" dirty="0" smtClean="0"/>
            <a:t>Open-source stack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800" b="1" i="0" kern="1200" dirty="0" smtClean="0"/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i="0" kern="1200" dirty="0" smtClean="0">
              <a:solidFill>
                <a:schemeClr val="bg1"/>
              </a:solidFill>
            </a:rPr>
            <a:t>Python, </a:t>
          </a:r>
          <a:r>
            <a:rPr lang="en-US" sz="1400" b="1" i="0" kern="1200" dirty="0" err="1" smtClean="0">
              <a:solidFill>
                <a:schemeClr val="bg1"/>
              </a:solidFill>
            </a:rPr>
            <a:t>Streamlit</a:t>
          </a:r>
          <a:r>
            <a:rPr lang="en-US" sz="1400" b="1" i="0" kern="1200" dirty="0" smtClean="0">
              <a:solidFill>
                <a:schemeClr val="bg1"/>
              </a:solidFill>
            </a:rPr>
            <a:t>, LangGraph, open LLMs and embedding models, enabling reproducibility and cost control.</a:t>
          </a:r>
          <a:endParaRPr lang="en-IN" sz="1400" b="1" kern="1200" dirty="0">
            <a:solidFill>
              <a:schemeClr val="bg1"/>
            </a:solidFill>
          </a:endParaRPr>
        </a:p>
      </dsp:txBody>
      <dsp:txXfrm>
        <a:off x="8554519" y="42298"/>
        <a:ext cx="1359549" cy="32491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 smtClean="0"/>
              <a:t>Group 18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7329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3F144-4209-43D0-8F20-759C416D94B6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5A12-EF1A-4E0C-A63D-D75F5F2A8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104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3F144-4209-43D0-8F20-759C416D94B6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5A12-EF1A-4E0C-A63D-D75F5F2A8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336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3F144-4209-43D0-8F20-759C416D94B6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5A12-EF1A-4E0C-A63D-D75F5F2A8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487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3F144-4209-43D0-8F20-759C416D94B6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5A12-EF1A-4E0C-A63D-D75F5F2A8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295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3F144-4209-43D0-8F20-759C416D94B6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5A12-EF1A-4E0C-A63D-D75F5F2A8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998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3F144-4209-43D0-8F20-759C416D94B6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5A12-EF1A-4E0C-A63D-D75F5F2A8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675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3F144-4209-43D0-8F20-759C416D94B6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5A12-EF1A-4E0C-A63D-D75F5F2A8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140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3F144-4209-43D0-8F20-759C416D94B6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5A12-EF1A-4E0C-A63D-D75F5F2A8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98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3F144-4209-43D0-8F20-759C416D94B6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5A12-EF1A-4E0C-A63D-D75F5F2A8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263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3F144-4209-43D0-8F20-759C416D94B6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5A12-EF1A-4E0C-A63D-D75F5F2A89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477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76000" y="6343650"/>
            <a:ext cx="78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IN" smtClean="0"/>
              <a:t>Group 18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1766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9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540078" y="383426"/>
            <a:ext cx="53879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b="1" i="0" dirty="0" smtClean="0">
                <a:solidFill>
                  <a:schemeClr val="bg2">
                    <a:lumMod val="75000"/>
                  </a:schemeClr>
                </a:solidFill>
                <a:effectLst/>
              </a:rPr>
              <a:t>Agentic</a:t>
            </a:r>
            <a:endParaRPr lang="en-IN" sz="2800" b="1" i="0" dirty="0" smtClean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ctr"/>
            <a:r>
              <a:rPr lang="en-IN" sz="2800" b="1" i="0" dirty="0" smtClean="0">
                <a:solidFill>
                  <a:schemeClr val="bg1"/>
                </a:solidFill>
                <a:effectLst/>
              </a:rPr>
              <a:t>Multimodal Commerce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6914" y="1204957"/>
            <a:ext cx="71745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i="0" dirty="0" smtClean="0">
                <a:solidFill>
                  <a:schemeClr val="bg2">
                    <a:lumMod val="75000"/>
                  </a:schemeClr>
                </a:solidFill>
                <a:effectLst/>
                <a:cs typeface="Arial" panose="020B0604020202020204" pitchFamily="34" charset="0"/>
              </a:rPr>
              <a:t>Conversational Product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cs typeface="Arial" panose="020B0604020202020204" pitchFamily="34" charset="0"/>
              </a:rPr>
              <a:t>D</a:t>
            </a:r>
            <a:r>
              <a:rPr lang="en-US" sz="1400" b="1" i="0" dirty="0" smtClean="0">
                <a:solidFill>
                  <a:schemeClr val="bg2">
                    <a:lumMod val="75000"/>
                  </a:schemeClr>
                </a:solidFill>
                <a:effectLst/>
                <a:cs typeface="Arial" panose="020B0604020202020204" pitchFamily="34" charset="0"/>
              </a:rPr>
              <a:t>iscovery, Multilingual Retrieval &amp; Transparent Billing - Driven by an </a:t>
            </a:r>
            <a:r>
              <a:rPr lang="en-US" sz="1400" b="1" i="0" dirty="0" smtClean="0">
                <a:solidFill>
                  <a:schemeClr val="bg1"/>
                </a:solidFill>
                <a:effectLst/>
                <a:cs typeface="Arial" panose="020B0604020202020204" pitchFamily="34" charset="0"/>
              </a:rPr>
              <a:t>Agentic, Explainable AI stack</a:t>
            </a:r>
            <a:r>
              <a:rPr lang="en-US" sz="1400" b="1" i="0" dirty="0" smtClean="0">
                <a:solidFill>
                  <a:schemeClr val="bg2">
                    <a:lumMod val="75000"/>
                  </a:schemeClr>
                </a:solidFill>
                <a:effectLst/>
                <a:cs typeface="Arial" panose="020B0604020202020204" pitchFamily="34" charset="0"/>
              </a:rPr>
              <a:t>.</a:t>
            </a:r>
            <a:endParaRPr lang="en-US" sz="1400" b="0" i="0" dirty="0" smtClean="0">
              <a:solidFill>
                <a:schemeClr val="bg2">
                  <a:lumMod val="75000"/>
                </a:schemeClr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828000" y="2504050"/>
            <a:ext cx="2096088" cy="2940148"/>
          </a:xfrm>
          <a:prstGeom prst="roundRect">
            <a:avLst>
              <a:gd name="adj" fmla="val 3176"/>
            </a:avLst>
          </a:prstGeom>
          <a:noFill/>
          <a:ln w="31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tx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r>
              <a:rPr lang="en-US" sz="2000" b="1" dirty="0" smtClean="0">
                <a:solidFill>
                  <a:schemeClr val="bg2">
                    <a:lumMod val="75000"/>
                  </a:schemeClr>
                </a:solidFill>
                <a:cs typeface="Arial" panose="020B0604020202020204" pitchFamily="34" charset="0"/>
              </a:rPr>
              <a:t>Contributors</a:t>
            </a:r>
          </a:p>
          <a:p>
            <a:endParaRPr lang="en-US" sz="800" dirty="0" smtClean="0"/>
          </a:p>
          <a:p>
            <a:r>
              <a:rPr lang="en-IN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Nishchay Tiwari</a:t>
            </a:r>
          </a:p>
          <a:p>
            <a:r>
              <a:rPr lang="en-IN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Akilesh</a:t>
            </a:r>
          </a:p>
          <a:p>
            <a:r>
              <a:rPr lang="en-IN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Jaydeep Kumar</a:t>
            </a:r>
          </a:p>
          <a:p>
            <a:r>
              <a:rPr lang="en-IN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Shivanshu Soni</a:t>
            </a:r>
          </a:p>
          <a:p>
            <a:r>
              <a:rPr lang="en-IN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Lalith Kumar</a:t>
            </a:r>
          </a:p>
          <a:p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Arindam Nag</a:t>
            </a:r>
            <a:endParaRPr lang="en-IN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07" y="4551483"/>
            <a:ext cx="1853997" cy="185399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514" y="4634719"/>
            <a:ext cx="1618957" cy="161895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661" y="4551483"/>
            <a:ext cx="1770761" cy="177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06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621072" y="256822"/>
            <a:ext cx="885935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b="1" i="0" dirty="0" smtClean="0">
                <a:solidFill>
                  <a:schemeClr val="bg2">
                    <a:lumMod val="75000"/>
                  </a:schemeClr>
                </a:solidFill>
                <a:effectLst/>
              </a:rPr>
              <a:t>Agentic</a:t>
            </a:r>
            <a:endParaRPr lang="en-IN" sz="2800" b="1" i="0" dirty="0" smtClean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ctr"/>
            <a:r>
              <a:rPr lang="en-IN" sz="2800" b="1" i="0" dirty="0" smtClean="0">
                <a:solidFill>
                  <a:schemeClr val="bg1"/>
                </a:solidFill>
                <a:effectLst/>
              </a:rPr>
              <a:t>Multimodal Commerce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34" y="1890468"/>
            <a:ext cx="2041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Problem</a:t>
            </a:r>
            <a:r>
              <a:rPr lang="en-US" b="1" dirty="0" smtClean="0"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Statement</a:t>
            </a:r>
            <a:endParaRPr lang="en-IN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31834" y="2446382"/>
            <a:ext cx="842654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Current commerce assistants operate in silos—treating text, images, and data as isolated inputs. This lack of "multimodal reasoning" leads to inaccurate search results and "black-box" billing that erodes user trust.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8149" y="4946778"/>
            <a:ext cx="1083531" cy="1083531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889" y="3801114"/>
            <a:ext cx="1019494" cy="1019494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1680" y="3734824"/>
            <a:ext cx="1152074" cy="1152074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1026" name="Picture 2" descr="Multimodal AI Market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99" t="4520" r="20803" b="13335"/>
          <a:stretch/>
        </p:blipFill>
        <p:spPr bwMode="auto">
          <a:xfrm>
            <a:off x="431834" y="3980015"/>
            <a:ext cx="2944412" cy="2827405"/>
          </a:xfrm>
          <a:prstGeom prst="roundRect">
            <a:avLst>
              <a:gd name="adj" fmla="val 4368"/>
            </a:avLst>
          </a:prstGeom>
          <a:noFill/>
          <a:effectLst>
            <a:softEdge rad="508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2523" y="1779136"/>
            <a:ext cx="675249" cy="67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5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621072" y="256822"/>
            <a:ext cx="885935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b="1" i="0" dirty="0" smtClean="0">
                <a:solidFill>
                  <a:schemeClr val="bg2">
                    <a:lumMod val="75000"/>
                  </a:schemeClr>
                </a:solidFill>
                <a:effectLst/>
              </a:rPr>
              <a:t>Agentic</a:t>
            </a:r>
            <a:endParaRPr lang="en-IN" sz="2800" b="1" i="0" dirty="0" smtClean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ctr"/>
            <a:r>
              <a:rPr lang="en-IN" sz="2800" b="1" i="0" dirty="0" smtClean="0">
                <a:solidFill>
                  <a:schemeClr val="bg1"/>
                </a:solidFill>
                <a:effectLst/>
              </a:rPr>
              <a:t>Multimodal Commerce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758" y="1954032"/>
            <a:ext cx="1531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Our Solution</a:t>
            </a:r>
            <a:endParaRPr lang="en-IN" sz="20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8129407" y="2543168"/>
            <a:ext cx="3704884" cy="3555701"/>
            <a:chOff x="9524570" y="4703068"/>
            <a:chExt cx="1772529" cy="1772529"/>
          </a:xfrm>
        </p:grpSpPr>
        <p:sp>
          <p:nvSpPr>
            <p:cNvPr id="16" name="Oval 15"/>
            <p:cNvSpPr/>
            <p:nvPr/>
          </p:nvSpPr>
          <p:spPr>
            <a:xfrm>
              <a:off x="9524570" y="4703068"/>
              <a:ext cx="1772529" cy="1772529"/>
            </a:xfrm>
            <a:prstGeom prst="ellipse">
              <a:avLst/>
            </a:prstGeom>
            <a:noFill/>
            <a:ln w="0">
              <a:gradFill>
                <a:gsLst>
                  <a:gs pos="0">
                    <a:schemeClr val="bg1"/>
                  </a:gs>
                  <a:gs pos="100000">
                    <a:schemeClr val="tx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72341" y="4887734"/>
              <a:ext cx="476986" cy="476986"/>
            </a:xfrm>
            <a:prstGeom prst="rect">
              <a:avLst/>
            </a:prstGeom>
            <a:effectLst/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82819" y="5471771"/>
              <a:ext cx="535579" cy="535579"/>
            </a:xfrm>
            <a:prstGeom prst="rect">
              <a:avLst/>
            </a:prstGeom>
            <a:effectLst/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75458" y="5483860"/>
              <a:ext cx="523490" cy="523490"/>
            </a:xfrm>
            <a:prstGeom prst="rect">
              <a:avLst/>
            </a:prstGeom>
            <a:effectLst/>
          </p:spPr>
        </p:pic>
      </p:grpSp>
      <p:sp>
        <p:nvSpPr>
          <p:cNvPr id="21" name="Rounded Rectangle 20"/>
          <p:cNvSpPr/>
          <p:nvPr/>
        </p:nvSpPr>
        <p:spPr>
          <a:xfrm>
            <a:off x="424758" y="2565915"/>
            <a:ext cx="7429159" cy="3668353"/>
          </a:xfrm>
          <a:prstGeom prst="roundRect">
            <a:avLst>
              <a:gd name="adj" fmla="val 4490"/>
            </a:avLst>
          </a:prstGeom>
          <a:noFill/>
          <a:ln w="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dirty="0">
                <a:solidFill>
                  <a:prstClr val="black"/>
                </a:solidFill>
              </a:rPr>
              <a:t>The </a:t>
            </a:r>
            <a:r>
              <a:rPr lang="en-US" b="1" dirty="0">
                <a:solidFill>
                  <a:prstClr val="black"/>
                </a:solidFill>
              </a:rPr>
              <a:t>Agentic Multimodal Commerce Platform</a:t>
            </a:r>
            <a:r>
              <a:rPr lang="en-US" dirty="0">
                <a:solidFill>
                  <a:prstClr val="black"/>
                </a:solidFill>
              </a:rPr>
              <a:t> is a research and engineering initiative that lets shoppers find products and complete checkout-style flows using </a:t>
            </a:r>
            <a:r>
              <a:rPr lang="en-US" b="1" dirty="0">
                <a:solidFill>
                  <a:prstClr val="black"/>
                </a:solidFill>
              </a:rPr>
              <a:t>natural language</a:t>
            </a:r>
            <a:r>
              <a:rPr lang="en-US" dirty="0">
                <a:solidFill>
                  <a:prstClr val="black"/>
                </a:solidFill>
              </a:rPr>
              <a:t> (including multiple languages) and </a:t>
            </a:r>
            <a:r>
              <a:rPr lang="en-US" b="1" dirty="0">
                <a:solidFill>
                  <a:prstClr val="black"/>
                </a:solidFill>
              </a:rPr>
              <a:t>product images</a:t>
            </a:r>
            <a:r>
              <a:rPr lang="en-US" dirty="0">
                <a:solidFill>
                  <a:prstClr val="black"/>
                </a:solidFill>
              </a:rPr>
              <a:t>, not just keyword search.</a:t>
            </a:r>
          </a:p>
          <a:p>
            <a:pPr lvl="0"/>
            <a:endParaRPr lang="en-US" dirty="0">
              <a:solidFill>
                <a:prstClr val="black"/>
              </a:solidFill>
            </a:endParaRPr>
          </a:p>
          <a:p>
            <a:pPr lvl="0"/>
            <a:r>
              <a:rPr lang="en-US" dirty="0">
                <a:solidFill>
                  <a:prstClr val="black"/>
                </a:solidFill>
              </a:rPr>
              <a:t>Today’s commerce assistants often treat text and images in isolation, treat OCR as plain text without product semantics, and automate billing without enough transparency. This project builds a </a:t>
            </a:r>
            <a:r>
              <a:rPr lang="en-US" b="1" dirty="0">
                <a:solidFill>
                  <a:prstClr val="black"/>
                </a:solidFill>
              </a:rPr>
              <a:t>single conversational system</a:t>
            </a:r>
            <a:r>
              <a:rPr lang="en-US" dirty="0">
                <a:solidFill>
                  <a:prstClr val="black"/>
                </a:solidFill>
              </a:rPr>
              <a:t> that reasons across modalities, adapts its workflow dynamically, and </a:t>
            </a:r>
            <a:r>
              <a:rPr lang="en-US" b="1" dirty="0">
                <a:solidFill>
                  <a:prstClr val="black"/>
                </a:solidFill>
              </a:rPr>
              <a:t>explains</a:t>
            </a:r>
            <a:r>
              <a:rPr lang="en-US" dirty="0">
                <a:solidFill>
                  <a:prstClr val="black"/>
                </a:solidFill>
              </a:rPr>
              <a:t> what it matched and why—so it can be taken seriously in real retail and e-commerce settings.</a:t>
            </a:r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5945" y="1654952"/>
            <a:ext cx="843525" cy="8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374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621072" y="256822"/>
            <a:ext cx="885935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b="1" i="0" dirty="0" smtClean="0">
                <a:solidFill>
                  <a:schemeClr val="bg2">
                    <a:lumMod val="75000"/>
                  </a:schemeClr>
                </a:solidFill>
                <a:effectLst/>
              </a:rPr>
              <a:t>Agentic</a:t>
            </a:r>
            <a:endParaRPr lang="en-IN" sz="2800" b="1" i="0" dirty="0" smtClean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ctr"/>
            <a:r>
              <a:rPr lang="en-IN" sz="2800" b="1" i="0" dirty="0" smtClean="0">
                <a:solidFill>
                  <a:schemeClr val="bg1"/>
                </a:solidFill>
                <a:effectLst/>
              </a:rPr>
              <a:t>Multimodal Commerce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0690" y="1394982"/>
            <a:ext cx="112654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This project is built on an agentic architecture featuring dynamic routing that is explainable, multilingual, and safe by design—aligned with production-grade AI deployment in e-commerce.</a:t>
            </a:r>
            <a:endParaRPr lang="en-IN" sz="20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92754" y="2596600"/>
            <a:ext cx="2761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Issues We Tried To Solve</a:t>
            </a:r>
            <a:endParaRPr lang="en-IN" sz="20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444697"/>
              </p:ext>
            </p:extLst>
          </p:nvPr>
        </p:nvGraphicFramePr>
        <p:xfrm>
          <a:off x="225083" y="3207433"/>
          <a:ext cx="5825668" cy="309489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825668"/>
              </a:tblGrid>
              <a:tr h="618979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Discovery is text-only or image-only, rarely both in one flow</a:t>
                      </a:r>
                    </a:p>
                  </a:txBody>
                  <a:tcPr marL="123825" marR="123825" marT="57150" marB="57150" anchor="ctr"/>
                </a:tc>
              </a:tr>
              <a:tr h="618979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OCR yields text, not product semantics (brand, size, variant)</a:t>
                      </a:r>
                    </a:p>
                  </a:txBody>
                  <a:tcPr marL="123825" marR="123825" marT="57150" marB="57150" anchor="ctr"/>
                </a:tc>
              </a:tr>
              <a:tr h="618979"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Weak multilingual support</a:t>
                      </a:r>
                    </a:p>
                  </a:txBody>
                  <a:tcPr marL="123825" marR="123825" marT="57150" marB="57150" anchor="ctr"/>
                </a:tc>
              </a:tr>
              <a:tr h="618979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Billing feels like a black box</a:t>
                      </a:r>
                    </a:p>
                  </a:txBody>
                  <a:tcPr marL="123825" marR="123825" marT="57150" marB="57150" anchor="ctr"/>
                </a:tc>
              </a:tr>
              <a:tr h="618979"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Brittle, linear AI pipelines</a:t>
                      </a:r>
                    </a:p>
                  </a:txBody>
                  <a:tcPr marL="123825" marR="123825" marT="57150" marB="57150" anchor="ctr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92018"/>
              </p:ext>
            </p:extLst>
          </p:nvPr>
        </p:nvGraphicFramePr>
        <p:xfrm>
          <a:off x="6050752" y="3129244"/>
          <a:ext cx="5920854" cy="319980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920854"/>
              </a:tblGrid>
              <a:tr h="697701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Unified chat </a:t>
                      </a:r>
                      <a:r>
                        <a:rPr lang="en-US" b="0" dirty="0">
                          <a:effectLst/>
                        </a:rPr>
                        <a:t>+ image upload with orchestrated multimodal retrieval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</a:tr>
              <a:tr h="697701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  <a:effectLst/>
                        </a:rPr>
                        <a:t>Advanced Named OCR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  <a:effectLst/>
                        </a:rPr>
                        <a:t> (</a:t>
                      </a:r>
                      <a:r>
                        <a:rPr lang="en-US" b="1" dirty="0" smtClean="0">
                          <a:solidFill>
                            <a:schemeClr val="tx1"/>
                          </a:solidFill>
                          <a:effectLst/>
                        </a:rPr>
                        <a:t>ANOCR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  <a:effectLst/>
                        </a:rPr>
                        <a:t>) </a:t>
                      </a:r>
                      <a:r>
                        <a:rPr lang="en-US" b="0" dirty="0" smtClean="0">
                          <a:effectLst/>
                        </a:rPr>
                        <a:t>for </a:t>
                      </a:r>
                      <a:r>
                        <a:rPr lang="en-US" b="0" dirty="0">
                          <a:effectLst/>
                        </a:rPr>
                        <a:t>structured entities and </a:t>
                      </a:r>
                      <a:r>
                        <a:rPr lang="en-US" b="0" dirty="0" smtClean="0">
                          <a:effectLst/>
                        </a:rPr>
                        <a:t>confidence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</a:tr>
              <a:tr h="697701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Translation to a canonical language </a:t>
                      </a:r>
                      <a:r>
                        <a:rPr lang="en-US" b="0" dirty="0">
                          <a:effectLst/>
                        </a:rPr>
                        <a:t>plus multilingual embeddings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</a:tr>
              <a:tr h="408997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Billing &amp; </a:t>
                      </a:r>
                      <a:r>
                        <a:rPr lang="en-US" b="1" dirty="0" smtClean="0">
                          <a:effectLst/>
                        </a:rPr>
                        <a:t>Explanation</a:t>
                      </a:r>
                      <a:r>
                        <a:rPr lang="en-US" b="1" dirty="0">
                          <a:effectLst/>
                        </a:rPr>
                        <a:t> </a:t>
                      </a:r>
                      <a:r>
                        <a:rPr lang="en-US" b="1" dirty="0" smtClean="0">
                          <a:effectLst/>
                        </a:rPr>
                        <a:t>Agents </a:t>
                      </a:r>
                      <a:r>
                        <a:rPr lang="en-US" b="0" dirty="0">
                          <a:effectLst/>
                        </a:rPr>
                        <a:t>with RAG-backed rationale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</a:tr>
              <a:tr h="697701">
                <a:tc>
                  <a:txBody>
                    <a:bodyPr/>
                    <a:lstStyle/>
                    <a:p>
                      <a:r>
                        <a:rPr lang="en-IN" b="0" dirty="0" smtClean="0">
                          <a:effectLst/>
                        </a:rPr>
                        <a:t>Explicit </a:t>
                      </a:r>
                      <a:r>
                        <a:rPr lang="en-IN" b="0" dirty="0">
                          <a:effectLst/>
                        </a:rPr>
                        <a:t>nodes, edges, conditions, retries, and </a:t>
                      </a:r>
                      <a:r>
                        <a:rPr lang="en-IN" b="0" dirty="0" smtClean="0">
                          <a:effectLst/>
                        </a:rPr>
                        <a:t>fall backs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23825" marR="123825" marT="57150" marB="57150" anchor="ctr"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051072" y="2596600"/>
            <a:ext cx="19975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By Implementing</a:t>
            </a:r>
            <a:endParaRPr lang="en-IN" sz="20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368" y="2495209"/>
            <a:ext cx="758121" cy="758121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10311618" y="2240456"/>
            <a:ext cx="1364567" cy="1012874"/>
            <a:chOff x="10649242" y="2257044"/>
            <a:chExt cx="1364567" cy="1012874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304502">
              <a:off x="10649242" y="2520637"/>
              <a:ext cx="618979" cy="618979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393860">
              <a:off x="11000935" y="2257044"/>
              <a:ext cx="1012874" cy="10128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31947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621072" y="256822"/>
            <a:ext cx="885935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b="1" i="0" dirty="0" smtClean="0">
                <a:solidFill>
                  <a:schemeClr val="bg2">
                    <a:lumMod val="75000"/>
                  </a:schemeClr>
                </a:solidFill>
                <a:effectLst/>
              </a:rPr>
              <a:t>Agentic</a:t>
            </a:r>
            <a:endParaRPr lang="en-IN" sz="2800" b="1" i="0" dirty="0" smtClean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ctr"/>
            <a:r>
              <a:rPr lang="en-IN" sz="2800" b="1" i="0" dirty="0" smtClean="0">
                <a:solidFill>
                  <a:schemeClr val="bg1"/>
                </a:solidFill>
                <a:effectLst/>
              </a:rPr>
              <a:t>Multimodal Commerce Platform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775" y="2512352"/>
            <a:ext cx="11378037" cy="4127599"/>
          </a:xfrm>
          <a:prstGeom prst="roundRect">
            <a:avLst>
              <a:gd name="adj" fmla="val 4490"/>
            </a:avLst>
          </a:prstGeom>
          <a:noFill/>
          <a:ln w="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76775" y="1913206"/>
            <a:ext cx="2619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Tech Stacks &amp; Application</a:t>
            </a:r>
            <a:endParaRPr lang="en-IN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215915"/>
              </p:ext>
            </p:extLst>
          </p:nvPr>
        </p:nvGraphicFramePr>
        <p:xfrm>
          <a:off x="802648" y="2742166"/>
          <a:ext cx="10926289" cy="37719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02795"/>
                <a:gridCol w="8623494"/>
              </a:tblGrid>
              <a:tr h="353341">
                <a:tc>
                  <a:txBody>
                    <a:bodyPr/>
                    <a:lstStyle/>
                    <a:p>
                      <a:r>
                        <a:rPr lang="en-IN" b="1" dirty="0" err="1" smtClean="0">
                          <a:effectLst/>
                        </a:rPr>
                        <a:t>Streamlit</a:t>
                      </a:r>
                      <a:endParaRPr lang="en-IN" b="1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Conversational UI: chat, image upload, streaming responses, confirmation controls</a:t>
                      </a:r>
                    </a:p>
                  </a:txBody>
                  <a:tcPr marL="123825" marR="123825" marT="57150" marB="57150" anchor="ctr"/>
                </a:tc>
              </a:tr>
              <a:tr h="353341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LangGraph runtime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Python application wiring graph definition, state, and execution</a:t>
                      </a:r>
                    </a:p>
                  </a:txBody>
                  <a:tcPr marL="123825" marR="123825" marT="57150" marB="57150" anchor="ctr"/>
                </a:tc>
              </a:tr>
              <a:tr h="602761"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</a:rPr>
                        <a:t>Agent layer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Pluggable agents: conversation manager, guardrails, intent, retrieval, vision, ANOCR, translation, billing, explanation</a:t>
                      </a:r>
                    </a:p>
                  </a:txBody>
                  <a:tcPr marL="123825" marR="123825" marT="57150" marB="57150" anchor="ctr"/>
                </a:tc>
              </a:tr>
              <a:tr h="353341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FalkorDB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Vector store for multimodal RAG (text, image, OCR, multilingual embeddings)</a:t>
                      </a:r>
                    </a:p>
                  </a:txBody>
                  <a:tcPr marL="123825" marR="123825" marT="57150" marB="57150" anchor="ctr"/>
                </a:tc>
              </a:tr>
              <a:tr h="353341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</a:rPr>
                        <a:t>Config / prompts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Model endpoints, thresholds, safety rules, and prompt templates</a:t>
                      </a:r>
                    </a:p>
                  </a:txBody>
                  <a:tcPr marL="123825" marR="123825" marT="57150" marB="57150" anchor="ctr"/>
                </a:tc>
              </a:tr>
              <a:tr h="353341"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</a:rPr>
                        <a:t>Tests &amp; </a:t>
                      </a:r>
                      <a:r>
                        <a:rPr lang="en-IN" b="1" dirty="0" err="1" smtClean="0">
                          <a:effectLst/>
                        </a:rPr>
                        <a:t>eval</a:t>
                      </a:r>
                      <a:endParaRPr lang="en-IN" b="1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Unit/integration tests and optional retrieval-quality </a:t>
                      </a:r>
                      <a:r>
                        <a:rPr lang="en-US" dirty="0" smtClean="0">
                          <a:effectLst/>
                        </a:rPr>
                        <a:t>checks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</a:tr>
              <a:tr h="353341">
                <a:tc>
                  <a:txBody>
                    <a:bodyPr/>
                    <a:lstStyle/>
                    <a:p>
                      <a:r>
                        <a:rPr lang="en-IN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LLMs</a:t>
                      </a:r>
                      <a:endParaRPr lang="en-IN" b="1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LLaMA</a:t>
                      </a:r>
                      <a:r>
                        <a:rPr lang="en-I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Mistral, </a:t>
                      </a:r>
                      <a:r>
                        <a:rPr lang="en-IN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Mixtral</a:t>
                      </a:r>
                      <a:r>
                        <a:rPr lang="en-I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Phi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</a:tr>
              <a:tr h="353341">
                <a:tc>
                  <a:txBody>
                    <a:bodyPr/>
                    <a:lstStyle/>
                    <a:p>
                      <a:r>
                        <a:rPr lang="en-IN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 embeddings</a:t>
                      </a:r>
                      <a:endParaRPr lang="en-IN" b="1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Sentence-Transformers, BGE, Instructor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</a:tr>
              <a:tr h="353341">
                <a:tc>
                  <a:txBody>
                    <a:bodyPr/>
                    <a:lstStyle/>
                    <a:p>
                      <a:r>
                        <a:rPr lang="en-IN" sz="18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Image embeddings</a:t>
                      </a:r>
                      <a:endParaRPr lang="en-IN" b="1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CLIP / </a:t>
                      </a:r>
                      <a:r>
                        <a:rPr lang="en-IN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SigLIP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113" y="1735058"/>
            <a:ext cx="777294" cy="77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621072" y="256822"/>
            <a:ext cx="885935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b="1" i="0" dirty="0" smtClean="0">
                <a:solidFill>
                  <a:schemeClr val="bg2">
                    <a:lumMod val="75000"/>
                  </a:schemeClr>
                </a:solidFill>
                <a:effectLst/>
              </a:rPr>
              <a:t>Agentic</a:t>
            </a:r>
            <a:endParaRPr lang="en-IN" sz="2800" b="1" i="0" dirty="0" smtClean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ctr"/>
            <a:r>
              <a:rPr lang="en-IN" sz="2800" b="1" i="0" dirty="0" smtClean="0">
                <a:solidFill>
                  <a:schemeClr val="bg1"/>
                </a:solidFill>
                <a:effectLst/>
              </a:rPr>
              <a:t>Multimodal Commerce Platform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5049" y="2307101"/>
            <a:ext cx="1396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Logical 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Components</a:t>
            </a:r>
            <a:endParaRPr lang="en-IN" b="1" dirty="0">
              <a:solidFill>
                <a:schemeClr val="bg1"/>
              </a:solidFill>
            </a:endParaRP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651584988"/>
              </p:ext>
            </p:extLst>
          </p:nvPr>
        </p:nvGraphicFramePr>
        <p:xfrm>
          <a:off x="1924365" y="1733550"/>
          <a:ext cx="9958283" cy="3333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845" y="2953432"/>
            <a:ext cx="1294227" cy="129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583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621072" y="256822"/>
            <a:ext cx="885935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b="1" i="0" dirty="0" smtClean="0">
                <a:solidFill>
                  <a:schemeClr val="bg2">
                    <a:lumMod val="75000"/>
                  </a:schemeClr>
                </a:solidFill>
                <a:effectLst/>
              </a:rPr>
              <a:t>Agentic</a:t>
            </a:r>
            <a:endParaRPr lang="en-IN" sz="2800" b="1" i="0" dirty="0" smtClean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ctr"/>
            <a:r>
              <a:rPr lang="en-IN" sz="2800" b="1" i="0" dirty="0" smtClean="0">
                <a:solidFill>
                  <a:schemeClr val="bg1"/>
                </a:solidFill>
                <a:effectLst/>
              </a:rPr>
              <a:t>Multimodal Commerce Platform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82853" y="1237957"/>
            <a:ext cx="3135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Agents &amp; </a:t>
            </a:r>
            <a:r>
              <a:rPr lang="en-US" b="1" dirty="0">
                <a:solidFill>
                  <a:schemeClr val="bg1"/>
                </a:solidFill>
              </a:rPr>
              <a:t>T</a:t>
            </a:r>
            <a:r>
              <a:rPr lang="en-US" b="1" dirty="0" smtClean="0">
                <a:solidFill>
                  <a:schemeClr val="bg1"/>
                </a:solidFill>
              </a:rPr>
              <a:t>heir Responsibilities</a:t>
            </a:r>
            <a:endParaRPr lang="en-IN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00818"/>
              </p:ext>
            </p:extLst>
          </p:nvPr>
        </p:nvGraphicFramePr>
        <p:xfrm>
          <a:off x="970671" y="2188164"/>
          <a:ext cx="10919155" cy="44538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41265"/>
                <a:gridCol w="8577890"/>
              </a:tblGrid>
              <a:tr h="648836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Conversation Manager</a:t>
                      </a:r>
                    </a:p>
                  </a:txBody>
                  <a:tcPr marL="105322" marR="105322" marT="48610" marB="48610" anchor="ctr"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Session state, intent (text </a:t>
                      </a:r>
                      <a:r>
                        <a:rPr lang="en-IN" sz="1800" b="1" dirty="0" err="1">
                          <a:effectLst/>
                        </a:rPr>
                        <a:t>vs</a:t>
                      </a:r>
                      <a:r>
                        <a:rPr lang="en-IN" sz="1800" b="1" dirty="0">
                          <a:effectLst/>
                        </a:rPr>
                        <a:t> image path), LangGraph route selection</a:t>
                      </a:r>
                    </a:p>
                  </a:txBody>
                  <a:tcPr marL="105322" marR="105322" marT="48610" marB="48610" anchor="ctr"/>
                </a:tc>
              </a:tr>
              <a:tr h="537180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Guardrails</a:t>
                      </a:r>
                    </a:p>
                  </a:txBody>
                  <a:tcPr marL="105322" marR="105322" marT="48610" marB="48610" anchor="ctr"/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Validate inputs; enforce product/policy rules; confidence thresholds for automation</a:t>
                      </a:r>
                    </a:p>
                  </a:txBody>
                  <a:tcPr marL="105322" marR="105322" marT="48610" marB="48610" anchor="ctr"/>
                </a:tc>
              </a:tr>
              <a:tr h="537180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Intent classifier</a:t>
                      </a:r>
                    </a:p>
                  </a:txBody>
                  <a:tcPr marL="105322" marR="105322" marT="48610" marB="48610" anchor="ctr"/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Distinguish text query vs image scan and downstream branches</a:t>
                      </a:r>
                    </a:p>
                  </a:txBody>
                  <a:tcPr marL="105322" marR="105322" marT="48610" marB="48610" anchor="ctr"/>
                </a:tc>
              </a:tr>
              <a:tr h="537180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Text retrieval</a:t>
                      </a:r>
                    </a:p>
                  </a:txBody>
                  <a:tcPr marL="105322" marR="105322" marT="48610" marB="48610"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Multilingual query embedding; semantic search in </a:t>
                      </a:r>
                      <a:r>
                        <a:rPr lang="en-US" sz="1800" b="1" dirty="0" err="1">
                          <a:effectLst/>
                        </a:rPr>
                        <a:t>FalkorDB</a:t>
                      </a:r>
                      <a:r>
                        <a:rPr lang="en-US" sz="1800" b="1" dirty="0">
                          <a:effectLst/>
                        </a:rPr>
                        <a:t>; ranked candidates</a:t>
                      </a:r>
                    </a:p>
                  </a:txBody>
                  <a:tcPr marL="105322" marR="105322" marT="48610" marB="48610" anchor="ctr"/>
                </a:tc>
              </a:tr>
              <a:tr h="373028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Vision search</a:t>
                      </a:r>
                    </a:p>
                  </a:txBody>
                  <a:tcPr marL="105322" marR="105322" marT="48610" marB="48610"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Image embedding; similarity search in </a:t>
                      </a:r>
                      <a:r>
                        <a:rPr lang="en-US" sz="1800" b="1" dirty="0" err="1">
                          <a:effectLst/>
                        </a:rPr>
                        <a:t>FalkorDB</a:t>
                      </a:r>
                      <a:endParaRPr lang="en-US" sz="1800" b="1" dirty="0">
                        <a:effectLst/>
                      </a:endParaRPr>
                    </a:p>
                  </a:txBody>
                  <a:tcPr marL="105322" marR="105322" marT="48610" marB="48610" anchor="ctr"/>
                </a:tc>
              </a:tr>
              <a:tr h="537180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ANOCR</a:t>
                      </a:r>
                    </a:p>
                  </a:txBody>
                  <a:tcPr marL="105322" marR="105322" marT="48610" marB="48610" anchor="ctr"/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Extract brand, product name, size, attributes; structured entities + confidence</a:t>
                      </a:r>
                    </a:p>
                  </a:txBody>
                  <a:tcPr marL="105322" marR="105322" marT="48610" marB="48610" anchor="ctr"/>
                </a:tc>
              </a:tr>
              <a:tr h="537180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Translation</a:t>
                      </a:r>
                    </a:p>
                  </a:txBody>
                  <a:tcPr marL="105322" marR="105322" marT="48610" marB="48610"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Normalize text to a canonical language for search and responses</a:t>
                      </a:r>
                    </a:p>
                  </a:txBody>
                  <a:tcPr marL="105322" marR="105322" marT="48610" marB="48610" anchor="ctr"/>
                </a:tc>
              </a:tr>
              <a:tr h="373028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Billing &amp; validation</a:t>
                      </a:r>
                    </a:p>
                  </a:txBody>
                  <a:tcPr marL="105322" marR="105322" marT="48610" marB="48610"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Price, tax, discount; invoice generation</a:t>
                      </a:r>
                    </a:p>
                  </a:txBody>
                  <a:tcPr marL="105322" marR="105322" marT="48610" marB="48610" anchor="ctr"/>
                </a:tc>
              </a:tr>
              <a:tr h="373028"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</a:rPr>
                        <a:t>Explanation</a:t>
                      </a:r>
                    </a:p>
                  </a:txBody>
                  <a:tcPr marL="105322" marR="105322" marT="48610" marB="48610"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Use RAG context to justify decisions to the user</a:t>
                      </a:r>
                    </a:p>
                  </a:txBody>
                  <a:tcPr marL="105322" marR="105322" marT="48610" marB="48610" anchor="ctr"/>
                </a:tc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68" y="2330575"/>
            <a:ext cx="399728" cy="399728"/>
          </a:xfrm>
          <a:prstGeom prst="rect">
            <a:avLst/>
          </a:prstGeom>
          <a:effectLst/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93" y="2881887"/>
            <a:ext cx="457393" cy="457393"/>
          </a:xfrm>
          <a:prstGeom prst="rect">
            <a:avLst/>
          </a:prstGeom>
          <a:effectLst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597" y="3406106"/>
            <a:ext cx="490644" cy="490644"/>
          </a:xfrm>
          <a:prstGeom prst="rect">
            <a:avLst/>
          </a:prstGeom>
          <a:effectLst/>
        </p:spPr>
      </p:pic>
      <p:grpSp>
        <p:nvGrpSpPr>
          <p:cNvPr id="12" name="Group 11"/>
          <p:cNvGrpSpPr/>
          <p:nvPr/>
        </p:nvGrpSpPr>
        <p:grpSpPr>
          <a:xfrm>
            <a:off x="217321" y="3963576"/>
            <a:ext cx="600365" cy="341156"/>
            <a:chOff x="114642" y="3947479"/>
            <a:chExt cx="683725" cy="388525"/>
          </a:xfrm>
          <a:effectLst/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5280" y="3965197"/>
              <a:ext cx="353087" cy="353087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5400000">
              <a:off x="114642" y="3947479"/>
              <a:ext cx="388525" cy="388525"/>
            </a:xfrm>
            <a:prstGeom prst="rect">
              <a:avLst/>
            </a:prstGeom>
          </p:spPr>
        </p:pic>
      </p:grpSp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514" y="4387116"/>
            <a:ext cx="447727" cy="447727"/>
          </a:xfrm>
          <a:prstGeom prst="rect">
            <a:avLst/>
          </a:prstGeom>
          <a:effectLst/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068" y="4899138"/>
            <a:ext cx="365828" cy="365828"/>
          </a:xfrm>
          <a:prstGeom prst="rect">
            <a:avLst/>
          </a:prstGeom>
          <a:effectLst/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2889" y="5416550"/>
            <a:ext cx="345634" cy="345634"/>
          </a:xfrm>
          <a:prstGeom prst="rect">
            <a:avLst/>
          </a:prstGeom>
          <a:effectLst/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4947" y="6319654"/>
            <a:ext cx="284221" cy="284221"/>
          </a:xfrm>
          <a:prstGeom prst="rect">
            <a:avLst/>
          </a:prstGeom>
          <a:effectLst/>
        </p:spPr>
      </p:pic>
      <p:grpSp>
        <p:nvGrpSpPr>
          <p:cNvPr id="20" name="Group 19"/>
          <p:cNvGrpSpPr/>
          <p:nvPr/>
        </p:nvGrpSpPr>
        <p:grpSpPr>
          <a:xfrm>
            <a:off x="352282" y="5816278"/>
            <a:ext cx="410937" cy="446226"/>
            <a:chOff x="352282" y="5816278"/>
            <a:chExt cx="410937" cy="446226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52282" y="5947688"/>
              <a:ext cx="314816" cy="314816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41919" y="5816278"/>
              <a:ext cx="221300" cy="2213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570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Straight Arrow Connector 72"/>
          <p:cNvCxnSpPr>
            <a:stCxn id="11" idx="3"/>
            <a:endCxn id="13" idx="1"/>
          </p:cNvCxnSpPr>
          <p:nvPr/>
        </p:nvCxnSpPr>
        <p:spPr>
          <a:xfrm flipV="1">
            <a:off x="5774888" y="2095564"/>
            <a:ext cx="2768267" cy="393633"/>
          </a:xfrm>
          <a:prstGeom prst="straightConnector1">
            <a:avLst/>
          </a:prstGeom>
          <a:ln w="38100">
            <a:gradFill>
              <a:gsLst>
                <a:gs pos="100000">
                  <a:schemeClr val="bg1"/>
                </a:gs>
                <a:gs pos="3000">
                  <a:schemeClr val="tx1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621072" y="256822"/>
            <a:ext cx="885935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b="1" i="0" dirty="0" smtClean="0">
                <a:solidFill>
                  <a:schemeClr val="bg2">
                    <a:lumMod val="75000"/>
                  </a:schemeClr>
                </a:solidFill>
                <a:effectLst/>
              </a:rPr>
              <a:t>Agentic</a:t>
            </a:r>
            <a:endParaRPr lang="en-IN" sz="2800" b="1" i="0" dirty="0" smtClean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ctr"/>
            <a:r>
              <a:rPr lang="en-IN" sz="2800" b="1" i="0" dirty="0" smtClean="0">
                <a:solidFill>
                  <a:schemeClr val="bg1"/>
                </a:solidFill>
                <a:effectLst/>
              </a:rPr>
              <a:t>Multimodal Commerce Platform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914349" y="1270684"/>
            <a:ext cx="2272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Nodes &amp; Control Flow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97113" y="2191654"/>
            <a:ext cx="1306286" cy="595086"/>
          </a:xfrm>
          <a:prstGeom prst="roundRect">
            <a:avLst/>
          </a:prstGeom>
          <a:noFill/>
          <a:ln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</a:gsLst>
              <a:lin ang="5400000" scaled="1"/>
            </a:gradFill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N" b="1" dirty="0"/>
              <a:t>Chat </a:t>
            </a:r>
            <a:r>
              <a:rPr lang="en-IN" b="1" dirty="0" smtClean="0"/>
              <a:t>Input</a:t>
            </a:r>
            <a:endParaRPr lang="en-IN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2343308" y="2191654"/>
            <a:ext cx="1589314" cy="595086"/>
          </a:xfrm>
          <a:prstGeom prst="roundRect">
            <a:avLst/>
          </a:prstGeom>
          <a:noFill/>
          <a:ln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</a:gsLst>
              <a:lin ang="5400000" scaled="1"/>
            </a:gradFill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N" b="1" dirty="0"/>
              <a:t>Conversation Manager</a:t>
            </a:r>
            <a:endParaRPr lang="en-IN" b="1" dirty="0"/>
          </a:p>
        </p:txBody>
      </p:sp>
      <p:sp>
        <p:nvSpPr>
          <p:cNvPr id="11" name="Rounded Rectangle 10"/>
          <p:cNvSpPr/>
          <p:nvPr/>
        </p:nvSpPr>
        <p:spPr>
          <a:xfrm>
            <a:off x="4468602" y="2191654"/>
            <a:ext cx="1306286" cy="595086"/>
          </a:xfrm>
          <a:prstGeom prst="roundRect">
            <a:avLst/>
          </a:prstGeom>
          <a:noFill/>
          <a:ln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</a:gsLst>
              <a:lin ang="5400000" scaled="1"/>
            </a:gradFill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N" b="1" dirty="0"/>
              <a:t>Guardrails</a:t>
            </a:r>
            <a:endParaRPr lang="en-IN" b="1" dirty="0"/>
          </a:p>
        </p:txBody>
      </p:sp>
      <p:sp>
        <p:nvSpPr>
          <p:cNvPr id="12" name="Rounded Rectangle 11"/>
          <p:cNvSpPr/>
          <p:nvPr/>
        </p:nvSpPr>
        <p:spPr>
          <a:xfrm>
            <a:off x="6923314" y="3500160"/>
            <a:ext cx="4602182" cy="483339"/>
          </a:xfrm>
          <a:prstGeom prst="roundRect">
            <a:avLst/>
          </a:prstGeom>
          <a:noFill/>
          <a:ln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</a:gsLst>
              <a:lin ang="5400000" scaled="1"/>
            </a:gradFill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N" b="1" dirty="0" smtClean="0"/>
              <a:t>Confidence Evaluation</a:t>
            </a:r>
            <a:endParaRPr lang="en-IN" b="1" dirty="0"/>
          </a:p>
        </p:txBody>
      </p:sp>
      <p:sp>
        <p:nvSpPr>
          <p:cNvPr id="13" name="Rounded Rectangle 12"/>
          <p:cNvSpPr/>
          <p:nvPr/>
        </p:nvSpPr>
        <p:spPr>
          <a:xfrm>
            <a:off x="8543155" y="1798021"/>
            <a:ext cx="1306286" cy="595086"/>
          </a:xfrm>
          <a:prstGeom prst="roundRect">
            <a:avLst/>
          </a:prstGeom>
          <a:noFill/>
          <a:ln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</a:gsLst>
              <a:lin ang="5400000" scaled="1"/>
            </a:gradFill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N" b="1" dirty="0"/>
              <a:t>Intent</a:t>
            </a:r>
          </a:p>
          <a:p>
            <a:pPr lvl="0" algn="ctr"/>
            <a:r>
              <a:rPr lang="en-IN" b="1" dirty="0"/>
              <a:t>Classifier</a:t>
            </a:r>
            <a:endParaRPr lang="en-IN" b="1" dirty="0"/>
          </a:p>
        </p:txBody>
      </p:sp>
      <p:sp>
        <p:nvSpPr>
          <p:cNvPr id="14" name="Rounded Rectangle 13"/>
          <p:cNvSpPr/>
          <p:nvPr/>
        </p:nvSpPr>
        <p:spPr>
          <a:xfrm>
            <a:off x="7494124" y="2614518"/>
            <a:ext cx="1306286" cy="595086"/>
          </a:xfrm>
          <a:prstGeom prst="roundRect">
            <a:avLst/>
          </a:prstGeom>
          <a:noFill/>
          <a:ln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</a:gsLst>
              <a:lin ang="5400000" scaled="1"/>
            </a:gradFill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 smtClean="0"/>
              <a:t>Vision Search </a:t>
            </a:r>
            <a:endParaRPr lang="en-IN" b="1" dirty="0"/>
          </a:p>
        </p:txBody>
      </p:sp>
      <p:sp>
        <p:nvSpPr>
          <p:cNvPr id="15" name="Rounded Rectangle 14"/>
          <p:cNvSpPr/>
          <p:nvPr/>
        </p:nvSpPr>
        <p:spPr>
          <a:xfrm>
            <a:off x="9447515" y="2579395"/>
            <a:ext cx="1235722" cy="595086"/>
          </a:xfrm>
          <a:prstGeom prst="roundRect">
            <a:avLst/>
          </a:prstGeom>
          <a:noFill/>
          <a:ln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</a:gsLst>
              <a:lin ang="5400000" scaled="1"/>
            </a:gradFill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/>
              <a:t>Text </a:t>
            </a:r>
            <a:endParaRPr lang="en-US" b="1" dirty="0" smtClean="0"/>
          </a:p>
          <a:p>
            <a:pPr lvl="0" algn="ctr"/>
            <a:r>
              <a:rPr lang="en-US" b="1" dirty="0" smtClean="0"/>
              <a:t>Retrieval</a:t>
            </a:r>
            <a:endParaRPr lang="en-IN" b="1" dirty="0"/>
          </a:p>
        </p:txBody>
      </p:sp>
      <p:sp>
        <p:nvSpPr>
          <p:cNvPr id="16" name="Rounded Rectangle 15"/>
          <p:cNvSpPr/>
          <p:nvPr/>
        </p:nvSpPr>
        <p:spPr>
          <a:xfrm>
            <a:off x="767067" y="5394795"/>
            <a:ext cx="1306286" cy="595086"/>
          </a:xfrm>
          <a:prstGeom prst="roundRect">
            <a:avLst/>
          </a:prstGeom>
          <a:noFill/>
          <a:ln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</a:gsLst>
              <a:lin ang="5400000" scaled="1"/>
            </a:gradFill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N" b="1" dirty="0"/>
              <a:t>Explain </a:t>
            </a:r>
          </a:p>
          <a:p>
            <a:pPr lvl="0" algn="ctr"/>
            <a:r>
              <a:rPr lang="en-IN" b="1" dirty="0"/>
              <a:t>Response</a:t>
            </a:r>
            <a:endParaRPr lang="en-IN" b="1" dirty="0"/>
          </a:p>
        </p:txBody>
      </p:sp>
      <p:sp>
        <p:nvSpPr>
          <p:cNvPr id="19" name="Curved Up Arrow 18"/>
          <p:cNvSpPr/>
          <p:nvPr/>
        </p:nvSpPr>
        <p:spPr>
          <a:xfrm rot="8213902">
            <a:off x="6763153" y="1367591"/>
            <a:ext cx="1597086" cy="862259"/>
          </a:xfrm>
          <a:prstGeom prst="curvedUpArrow">
            <a:avLst>
              <a:gd name="adj1" fmla="val 20214"/>
              <a:gd name="adj2" fmla="val 38107"/>
              <a:gd name="adj3" fmla="val 28120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94000">
                <a:schemeClr val="tx1"/>
              </a:gs>
            </a:gsLst>
            <a:lin ang="5400000" scaled="1"/>
          </a:gradFill>
          <a:ln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</a:gsLst>
              <a:lin ang="5400000" scaled="1"/>
            </a:gradFill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p:sp>
        <p:nvSpPr>
          <p:cNvPr id="20" name="Curved Up Arrow 19"/>
          <p:cNvSpPr/>
          <p:nvPr/>
        </p:nvSpPr>
        <p:spPr>
          <a:xfrm rot="2723401" flipV="1">
            <a:off x="9849334" y="1293516"/>
            <a:ext cx="1608714" cy="862259"/>
          </a:xfrm>
          <a:prstGeom prst="curvedUpArrow">
            <a:avLst>
              <a:gd name="adj1" fmla="val 20214"/>
              <a:gd name="adj2" fmla="val 38107"/>
              <a:gd name="adj3" fmla="val 28120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94000">
                <a:schemeClr val="tx1"/>
              </a:gs>
            </a:gsLst>
            <a:lin ang="5400000" scaled="1"/>
          </a:gradFill>
          <a:ln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</a:gsLst>
              <a:lin ang="5400000" scaled="1"/>
            </a:gradFill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23" name="Rectangle 22"/>
          <p:cNvSpPr/>
          <p:nvPr/>
        </p:nvSpPr>
        <p:spPr>
          <a:xfrm>
            <a:off x="8408281" y="3142228"/>
            <a:ext cx="1551638" cy="287869"/>
          </a:xfrm>
          <a:prstGeom prst="rect">
            <a:avLst/>
          </a:prstGeom>
          <a:noFill/>
          <a:ln cmpd="sng">
            <a:noFill/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dist"/>
            <a:r>
              <a:rPr lang="en-IN" sz="1600" b="1" i="1" spc="150" dirty="0" err="1">
                <a:solidFill>
                  <a:schemeClr val="bg2">
                    <a:lumMod val="75000"/>
                  </a:schemeClr>
                </a:solidFill>
              </a:rPr>
              <a:t>FalkorDB</a:t>
            </a:r>
            <a:endParaRPr lang="en-IN" sz="1600" b="1" i="1" spc="1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714884" y="4447232"/>
            <a:ext cx="917524" cy="469418"/>
          </a:xfrm>
          <a:prstGeom prst="roundRect">
            <a:avLst/>
          </a:prstGeom>
          <a:noFill/>
          <a:ln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</a:gsLst>
              <a:lin ang="5400000" scaled="1"/>
            </a:gradFill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 smtClean="0"/>
              <a:t>Billing</a:t>
            </a:r>
            <a:endParaRPr lang="en-IN" b="1" dirty="0"/>
          </a:p>
        </p:txBody>
      </p:sp>
      <p:sp>
        <p:nvSpPr>
          <p:cNvPr id="25" name="Rounded Rectangle 24"/>
          <p:cNvSpPr/>
          <p:nvPr/>
        </p:nvSpPr>
        <p:spPr>
          <a:xfrm>
            <a:off x="9698004" y="4978191"/>
            <a:ext cx="1526904" cy="580646"/>
          </a:xfrm>
          <a:prstGeom prst="roundRect">
            <a:avLst/>
          </a:prstGeom>
          <a:noFill/>
          <a:ln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</a:gsLst>
              <a:lin ang="5400000" scaled="1"/>
            </a:gradFill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 smtClean="0"/>
              <a:t>User Confirmation </a:t>
            </a:r>
            <a:endParaRPr lang="en-IN" b="1" dirty="0"/>
          </a:p>
        </p:txBody>
      </p:sp>
      <p:sp>
        <p:nvSpPr>
          <p:cNvPr id="27" name="U-Turn Arrow 26"/>
          <p:cNvSpPr/>
          <p:nvPr/>
        </p:nvSpPr>
        <p:spPr>
          <a:xfrm rot="3195244">
            <a:off x="11066076" y="4560839"/>
            <a:ext cx="609825" cy="506620"/>
          </a:xfrm>
          <a:prstGeom prst="uturnArrow">
            <a:avLst>
              <a:gd name="adj1" fmla="val 21693"/>
              <a:gd name="adj2" fmla="val 20040"/>
              <a:gd name="adj3" fmla="val 25000"/>
              <a:gd name="adj4" fmla="val 55589"/>
              <a:gd name="adj5" fmla="val 100000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94000">
                <a:schemeClr val="tx1"/>
              </a:gs>
            </a:gsLst>
            <a:lin ang="5400000" scaled="1"/>
          </a:gradFill>
          <a:ln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</a:gsLst>
              <a:lin ang="5400000" scaled="1"/>
            </a:gradFill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/>
          </a:p>
        </p:txBody>
      </p:sp>
      <p:sp>
        <p:nvSpPr>
          <p:cNvPr id="28" name="Rectangle 27"/>
          <p:cNvSpPr/>
          <p:nvPr/>
        </p:nvSpPr>
        <p:spPr>
          <a:xfrm>
            <a:off x="10899693" y="4228800"/>
            <a:ext cx="873361" cy="369332"/>
          </a:xfrm>
          <a:prstGeom prst="rect">
            <a:avLst/>
          </a:prstGeom>
          <a:noFill/>
          <a:ln cmpd="sng">
            <a:noFill/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N" b="1" i="1" spc="1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Retry</a:t>
            </a:r>
            <a:endParaRPr lang="en-IN" b="1" i="1" spc="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717562" y="5585138"/>
            <a:ext cx="1070677" cy="469418"/>
          </a:xfrm>
          <a:prstGeom prst="roundRect">
            <a:avLst/>
          </a:prstGeom>
          <a:noFill/>
          <a:ln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</a:gsLst>
              <a:lin ang="5400000" scaled="1"/>
            </a:gradFill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 smtClean="0"/>
              <a:t>Fallback</a:t>
            </a:r>
            <a:endParaRPr lang="en-IN" b="1" dirty="0"/>
          </a:p>
        </p:txBody>
      </p:sp>
      <p:sp>
        <p:nvSpPr>
          <p:cNvPr id="30" name="Striped Right Arrow 29"/>
          <p:cNvSpPr/>
          <p:nvPr/>
        </p:nvSpPr>
        <p:spPr>
          <a:xfrm rot="16200000">
            <a:off x="8102045" y="4440408"/>
            <a:ext cx="2052868" cy="1139050"/>
          </a:xfrm>
          <a:prstGeom prst="stripedRightArrow">
            <a:avLst>
              <a:gd name="adj1" fmla="val 63701"/>
              <a:gd name="adj2" fmla="val 47840"/>
            </a:avLst>
          </a:prstGeom>
          <a:gradFill flip="none" rotWithShape="1">
            <a:gsLst>
              <a:gs pos="0">
                <a:srgbClr val="FF0000"/>
              </a:gs>
              <a:gs pos="44000">
                <a:srgbClr val="FF6600"/>
              </a:gs>
              <a:gs pos="87000">
                <a:srgbClr val="00B05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High</a:t>
            </a:r>
          </a:p>
          <a:p>
            <a:pPr algn="ctr"/>
            <a:endParaRPr lang="en-US" sz="1400" b="1" dirty="0" smtClean="0">
              <a:solidFill>
                <a:schemeClr val="bg1"/>
              </a:solidFill>
            </a:endParaRPr>
          </a:p>
          <a:p>
            <a:pPr algn="ctr"/>
            <a:endParaRPr lang="en-US" sz="1400" b="1" dirty="0" smtClean="0">
              <a:solidFill>
                <a:schemeClr val="bg1"/>
              </a:solidFill>
            </a:endParaRPr>
          </a:p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Medium</a:t>
            </a:r>
          </a:p>
          <a:p>
            <a:pPr algn="ctr"/>
            <a:endParaRPr lang="en-US" sz="1400" b="1" dirty="0" smtClean="0">
              <a:solidFill>
                <a:schemeClr val="bg1"/>
              </a:solidFill>
            </a:endParaRPr>
          </a:p>
          <a:p>
            <a:pPr algn="ctr"/>
            <a:endParaRPr lang="en-US" sz="1400" b="1" dirty="0" smtClean="0">
              <a:solidFill>
                <a:schemeClr val="bg1"/>
              </a:solidFill>
            </a:endParaRPr>
          </a:p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Low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621872" y="4417652"/>
            <a:ext cx="917524" cy="469418"/>
          </a:xfrm>
          <a:prstGeom prst="roundRect">
            <a:avLst/>
          </a:prstGeom>
          <a:noFill/>
          <a:ln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</a:gsLst>
              <a:lin ang="5400000" scaled="1"/>
            </a:gradFill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 smtClean="0"/>
              <a:t>Billing</a:t>
            </a:r>
            <a:endParaRPr lang="en-IN" b="1" dirty="0"/>
          </a:p>
        </p:txBody>
      </p:sp>
      <p:sp>
        <p:nvSpPr>
          <p:cNvPr id="32" name="Rounded Rectangle 31"/>
          <p:cNvSpPr/>
          <p:nvPr/>
        </p:nvSpPr>
        <p:spPr>
          <a:xfrm>
            <a:off x="7663700" y="5520463"/>
            <a:ext cx="992790" cy="469418"/>
          </a:xfrm>
          <a:prstGeom prst="roundRect">
            <a:avLst/>
          </a:prstGeom>
          <a:noFill/>
          <a:ln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</a:gsLst>
              <a:lin ang="5400000" scaled="1"/>
            </a:gradFill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 smtClean="0"/>
              <a:t>ANOCR</a:t>
            </a:r>
            <a:endParaRPr lang="en-IN" b="1" dirty="0"/>
          </a:p>
        </p:txBody>
      </p:sp>
      <p:sp>
        <p:nvSpPr>
          <p:cNvPr id="33" name="Rounded Rectangle 32"/>
          <p:cNvSpPr/>
          <p:nvPr/>
        </p:nvSpPr>
        <p:spPr>
          <a:xfrm>
            <a:off x="5813623" y="5520463"/>
            <a:ext cx="1402450" cy="469418"/>
          </a:xfrm>
          <a:prstGeom prst="roundRect">
            <a:avLst/>
          </a:prstGeom>
          <a:noFill/>
          <a:ln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/>
                </a:gs>
              </a:gsLst>
              <a:lin ang="5400000" scaled="1"/>
            </a:gradFill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 smtClean="0"/>
              <a:t>Translation</a:t>
            </a:r>
            <a:endParaRPr lang="en-IN" b="1" dirty="0"/>
          </a:p>
        </p:txBody>
      </p:sp>
      <p:cxnSp>
        <p:nvCxnSpPr>
          <p:cNvPr id="53" name="Curved Connector 52"/>
          <p:cNvCxnSpPr>
            <a:stCxn id="33" idx="2"/>
            <a:endCxn id="15" idx="3"/>
          </p:cNvCxnSpPr>
          <p:nvPr/>
        </p:nvCxnSpPr>
        <p:spPr>
          <a:xfrm rot="5400000" flipH="1" flipV="1">
            <a:off x="7042570" y="2349215"/>
            <a:ext cx="3112943" cy="4168389"/>
          </a:xfrm>
          <a:prstGeom prst="curvedConnector4">
            <a:avLst>
              <a:gd name="adj1" fmla="val -7344"/>
              <a:gd name="adj2" fmla="val 105484"/>
            </a:avLst>
          </a:prstGeom>
          <a:ln w="19050">
            <a:gradFill>
              <a:gsLst>
                <a:gs pos="100000">
                  <a:schemeClr val="bg1"/>
                </a:gs>
                <a:gs pos="3000">
                  <a:schemeClr val="tx1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4" idx="3"/>
            <a:endCxn id="10" idx="1"/>
          </p:cNvCxnSpPr>
          <p:nvPr/>
        </p:nvCxnSpPr>
        <p:spPr>
          <a:xfrm>
            <a:off x="1803399" y="2489197"/>
            <a:ext cx="539909" cy="0"/>
          </a:xfrm>
          <a:prstGeom prst="straightConnector1">
            <a:avLst/>
          </a:prstGeom>
          <a:ln w="38100">
            <a:gradFill>
              <a:gsLst>
                <a:gs pos="100000">
                  <a:schemeClr val="bg1"/>
                </a:gs>
                <a:gs pos="3000">
                  <a:schemeClr val="tx1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10" idx="3"/>
            <a:endCxn id="11" idx="1"/>
          </p:cNvCxnSpPr>
          <p:nvPr/>
        </p:nvCxnSpPr>
        <p:spPr>
          <a:xfrm>
            <a:off x="3932622" y="2489197"/>
            <a:ext cx="535980" cy="0"/>
          </a:xfrm>
          <a:prstGeom prst="straightConnector1">
            <a:avLst/>
          </a:prstGeom>
          <a:ln w="38100">
            <a:gradFill>
              <a:gsLst>
                <a:gs pos="100000">
                  <a:schemeClr val="bg1"/>
                </a:gs>
                <a:gs pos="3000">
                  <a:schemeClr val="tx1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stCxn id="13" idx="2"/>
            <a:endCxn id="14" idx="3"/>
          </p:cNvCxnSpPr>
          <p:nvPr/>
        </p:nvCxnSpPr>
        <p:spPr>
          <a:xfrm flipH="1">
            <a:off x="8800410" y="2393107"/>
            <a:ext cx="395888" cy="518954"/>
          </a:xfrm>
          <a:prstGeom prst="straightConnector1">
            <a:avLst/>
          </a:prstGeom>
          <a:ln w="38100">
            <a:gradFill>
              <a:gsLst>
                <a:gs pos="100000">
                  <a:schemeClr val="bg1"/>
                </a:gs>
                <a:gs pos="3000">
                  <a:schemeClr val="tx1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13" idx="2"/>
            <a:endCxn id="15" idx="1"/>
          </p:cNvCxnSpPr>
          <p:nvPr/>
        </p:nvCxnSpPr>
        <p:spPr>
          <a:xfrm>
            <a:off x="9196298" y="2393107"/>
            <a:ext cx="251217" cy="483831"/>
          </a:xfrm>
          <a:prstGeom prst="straightConnector1">
            <a:avLst/>
          </a:prstGeom>
          <a:ln w="38100">
            <a:gradFill>
              <a:gsLst>
                <a:gs pos="100000">
                  <a:schemeClr val="bg1"/>
                </a:gs>
                <a:gs pos="3000">
                  <a:schemeClr val="tx1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14" idx="2"/>
          </p:cNvCxnSpPr>
          <p:nvPr/>
        </p:nvCxnSpPr>
        <p:spPr>
          <a:xfrm flipH="1">
            <a:off x="8137824" y="3209604"/>
            <a:ext cx="9443" cy="297542"/>
          </a:xfrm>
          <a:prstGeom prst="straightConnector1">
            <a:avLst/>
          </a:prstGeom>
          <a:ln w="38100">
            <a:gradFill>
              <a:gsLst>
                <a:gs pos="0">
                  <a:schemeClr val="bg1"/>
                </a:gs>
                <a:gs pos="58000">
                  <a:schemeClr val="tx1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15" idx="2"/>
          </p:cNvCxnSpPr>
          <p:nvPr/>
        </p:nvCxnSpPr>
        <p:spPr>
          <a:xfrm flipH="1">
            <a:off x="10052243" y="3174481"/>
            <a:ext cx="13133" cy="325678"/>
          </a:xfrm>
          <a:prstGeom prst="straightConnector1">
            <a:avLst/>
          </a:prstGeom>
          <a:ln w="38100">
            <a:gradFill>
              <a:gsLst>
                <a:gs pos="0">
                  <a:schemeClr val="bg1"/>
                </a:gs>
                <a:gs pos="58000">
                  <a:schemeClr val="tx1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8100192" y="3978149"/>
            <a:ext cx="19667" cy="331029"/>
          </a:xfrm>
          <a:prstGeom prst="straightConnector1">
            <a:avLst/>
          </a:prstGeom>
          <a:ln w="38100">
            <a:gradFill>
              <a:gsLst>
                <a:gs pos="0">
                  <a:schemeClr val="bg1"/>
                </a:gs>
                <a:gs pos="58000">
                  <a:schemeClr val="tx1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>
            <a:off x="10244141" y="3984978"/>
            <a:ext cx="8759" cy="296063"/>
          </a:xfrm>
          <a:prstGeom prst="straightConnector1">
            <a:avLst/>
          </a:prstGeom>
          <a:ln w="38100">
            <a:gradFill>
              <a:gsLst>
                <a:gs pos="0">
                  <a:schemeClr val="bg1"/>
                </a:gs>
                <a:gs pos="55000">
                  <a:schemeClr val="tx1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>
            <a:stCxn id="31" idx="1"/>
            <a:endCxn id="16" idx="3"/>
          </p:cNvCxnSpPr>
          <p:nvPr/>
        </p:nvCxnSpPr>
        <p:spPr>
          <a:xfrm flipH="1">
            <a:off x="2073353" y="4652361"/>
            <a:ext cx="5548519" cy="1039977"/>
          </a:xfrm>
          <a:prstGeom prst="straightConnector1">
            <a:avLst/>
          </a:prstGeom>
          <a:ln w="25400">
            <a:gradFill>
              <a:gsLst>
                <a:gs pos="0">
                  <a:schemeClr val="bg1"/>
                </a:gs>
                <a:gs pos="58000">
                  <a:schemeClr val="tx1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32" idx="1"/>
            <a:endCxn id="33" idx="3"/>
          </p:cNvCxnSpPr>
          <p:nvPr/>
        </p:nvCxnSpPr>
        <p:spPr>
          <a:xfrm flipH="1">
            <a:off x="7216073" y="5755172"/>
            <a:ext cx="447627" cy="0"/>
          </a:xfrm>
          <a:prstGeom prst="straightConnector1">
            <a:avLst/>
          </a:prstGeom>
          <a:ln w="38100">
            <a:gradFill>
              <a:gsLst>
                <a:gs pos="100000">
                  <a:schemeClr val="bg1"/>
                </a:gs>
                <a:gs pos="3000">
                  <a:schemeClr val="tx1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urved Connector 109"/>
          <p:cNvCxnSpPr>
            <a:stCxn id="24" idx="3"/>
            <a:endCxn id="16" idx="2"/>
          </p:cNvCxnSpPr>
          <p:nvPr/>
        </p:nvCxnSpPr>
        <p:spPr>
          <a:xfrm flipH="1">
            <a:off x="1420210" y="4681941"/>
            <a:ext cx="9212198" cy="1307940"/>
          </a:xfrm>
          <a:prstGeom prst="curvedConnector4">
            <a:avLst>
              <a:gd name="adj1" fmla="val -10452"/>
              <a:gd name="adj2" fmla="val 136545"/>
            </a:avLst>
          </a:prstGeom>
          <a:ln w="25400">
            <a:gradFill>
              <a:gsLst>
                <a:gs pos="0">
                  <a:schemeClr val="bg1"/>
                </a:gs>
                <a:gs pos="58000">
                  <a:schemeClr val="tx1"/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244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621072" y="256822"/>
            <a:ext cx="885935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b="1" i="0" dirty="0" smtClean="0">
                <a:solidFill>
                  <a:schemeClr val="bg2">
                    <a:lumMod val="75000"/>
                  </a:schemeClr>
                </a:solidFill>
                <a:effectLst/>
              </a:rPr>
              <a:t>Agentic</a:t>
            </a:r>
            <a:endParaRPr lang="en-IN" sz="2800" b="1" i="0" dirty="0" smtClean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ctr"/>
            <a:r>
              <a:rPr lang="en-IN" sz="2800" b="1" i="0" dirty="0" smtClean="0">
                <a:solidFill>
                  <a:schemeClr val="bg1"/>
                </a:solidFill>
                <a:effectLst/>
              </a:rPr>
              <a:t>Multimodal Commerce Platform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775" y="2318382"/>
            <a:ext cx="11378037" cy="1727139"/>
          </a:xfrm>
          <a:prstGeom prst="roundRect">
            <a:avLst>
              <a:gd name="adj" fmla="val 4490"/>
            </a:avLst>
          </a:prstGeom>
          <a:noFill/>
          <a:ln w="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prstClr val="black"/>
                </a:solidFill>
              </a:rPr>
              <a:t>Retail &amp; e-commerce </a:t>
            </a:r>
            <a:r>
              <a:rPr lang="en-US" dirty="0" smtClean="0">
                <a:solidFill>
                  <a:prstClr val="black"/>
                </a:solidFill>
              </a:rPr>
              <a:t>teams prototyping conversational and multimodal search without vendor lock-in.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prstClr val="black"/>
                </a:solidFill>
              </a:rPr>
              <a:t>Global or multilingual catalogs </a:t>
            </a:r>
            <a:r>
              <a:rPr lang="en-US" dirty="0" smtClean="0">
                <a:solidFill>
                  <a:prstClr val="black"/>
                </a:solidFill>
              </a:rPr>
              <a:t>where queries and product copy mix languages.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prstClr val="black"/>
                </a:solidFill>
              </a:rPr>
              <a:t>Operations that need auditable steps</a:t>
            </a:r>
            <a:r>
              <a:rPr lang="en-US" dirty="0" smtClean="0">
                <a:solidFill>
                  <a:prstClr val="black"/>
                </a:solidFill>
              </a:rPr>
              <a:t>: why a SKU was chosen, what confidence was, and what the user confirmed.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prstClr val="black"/>
                </a:solidFill>
              </a:rPr>
              <a:t>Research and coursework </a:t>
            </a:r>
            <a:r>
              <a:rPr lang="en-US" dirty="0" smtClean="0">
                <a:solidFill>
                  <a:prstClr val="black"/>
                </a:solidFill>
              </a:rPr>
              <a:t>(IITR) demonstrating modern RAG, agents, and graph-based orchestration on realistic commerce scenarios.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76775" y="1774656"/>
            <a:ext cx="1010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Use case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072" y="1635440"/>
            <a:ext cx="623455" cy="6234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775" y="4543607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USP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76775" y="4998023"/>
            <a:ext cx="11378037" cy="1264232"/>
          </a:xfrm>
          <a:prstGeom prst="roundRect">
            <a:avLst>
              <a:gd name="adj" fmla="val 4490"/>
            </a:avLst>
          </a:prstGeom>
          <a:noFill/>
          <a:ln w="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Faster </a:t>
            </a:r>
            <a:r>
              <a:rPr lang="en-US" dirty="0" smtClean="0">
                <a:solidFill>
                  <a:schemeClr val="tx1"/>
                </a:solidFill>
              </a:rPr>
              <a:t>checkout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Reduced </a:t>
            </a:r>
            <a:r>
              <a:rPr lang="en-US" dirty="0">
                <a:solidFill>
                  <a:schemeClr val="tx1"/>
                </a:solidFill>
              </a:rPr>
              <a:t>manual </a:t>
            </a:r>
            <a:r>
              <a:rPr lang="en-US" dirty="0" smtClean="0">
                <a:solidFill>
                  <a:schemeClr val="tx1"/>
                </a:solidFill>
              </a:rPr>
              <a:t>intervention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Multilingual </a:t>
            </a:r>
            <a:r>
              <a:rPr lang="en-US" dirty="0">
                <a:solidFill>
                  <a:schemeClr val="tx1"/>
                </a:solidFill>
              </a:rPr>
              <a:t>global </a:t>
            </a:r>
            <a:r>
              <a:rPr lang="en-US" dirty="0" smtClean="0">
                <a:solidFill>
                  <a:schemeClr val="tx1"/>
                </a:solidFill>
              </a:rPr>
              <a:t>support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Enterprise-grade </a:t>
            </a:r>
            <a:r>
              <a:rPr lang="en-US" dirty="0">
                <a:solidFill>
                  <a:schemeClr val="tx1"/>
                </a:solidFill>
              </a:rPr>
              <a:t>trust and </a:t>
            </a:r>
            <a:r>
              <a:rPr lang="en-US" dirty="0" smtClean="0">
                <a:solidFill>
                  <a:schemeClr val="tx1"/>
                </a:solidFill>
              </a:rPr>
              <a:t>safety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559" y="4372318"/>
            <a:ext cx="505235" cy="50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619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621072" y="256822"/>
            <a:ext cx="885935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b="1" i="0" dirty="0" smtClean="0">
                <a:solidFill>
                  <a:schemeClr val="bg2">
                    <a:lumMod val="75000"/>
                  </a:schemeClr>
                </a:solidFill>
                <a:effectLst/>
              </a:rPr>
              <a:t>Agentic</a:t>
            </a:r>
            <a:endParaRPr lang="en-IN" sz="2800" b="1" i="0" dirty="0" smtClean="0">
              <a:solidFill>
                <a:schemeClr val="bg2">
                  <a:lumMod val="75000"/>
                </a:schemeClr>
              </a:solidFill>
              <a:effectLst/>
            </a:endParaRPr>
          </a:p>
          <a:p>
            <a:pPr algn="ctr"/>
            <a:r>
              <a:rPr lang="en-IN" sz="2800" b="1" i="0" dirty="0" smtClean="0">
                <a:solidFill>
                  <a:schemeClr val="bg1"/>
                </a:solidFill>
                <a:effectLst/>
              </a:rPr>
              <a:t>Multimodal Commerce Platform</a:t>
            </a:r>
          </a:p>
        </p:txBody>
      </p:sp>
    </p:spTree>
    <p:extLst>
      <p:ext uri="{BB962C8B-B14F-4D97-AF65-F5344CB8AC3E}">
        <p14:creationId xmlns:p14="http://schemas.microsoft.com/office/powerpoint/2010/main" val="423684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650</Words>
  <Application>Microsoft Office PowerPoint</Application>
  <PresentationFormat>Widescreen</PresentationFormat>
  <Paragraphs>143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39</cp:revision>
  <dcterms:created xsi:type="dcterms:W3CDTF">2026-04-10T19:04:13Z</dcterms:created>
  <dcterms:modified xsi:type="dcterms:W3CDTF">2026-04-11T01:18:02Z</dcterms:modified>
</cp:coreProperties>
</file>